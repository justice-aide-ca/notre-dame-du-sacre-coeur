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C9963A"/>
                </a:solidFill>
              </a:defRPr>
            </a:pPr>
            <a:r>
              <a:t>PAROISSE SAINT-GEORGES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Histoire vivante • Grand-Sault, Nouveau-Brunswick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Une paroisse au cœur de la foi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828800" cy="45720"/>
          </a:xfrm>
          <a:prstGeom prst="rect">
            <a:avLst/>
          </a:prstGeom>
          <a:solidFill>
            <a:srgbClr val="C99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La paroisse Saint-Georges fait partie de l'Unité pastorale Notre-Dame-du-Sacré-Cœur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Quatre paroisses, une même famille de foi : Assomption, Saint-Georges, Saint-André et Saint-Michel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Située à Grand-Sault, au nord-ouest du Nouveau-Brunswick, sur les rives du fleuve Saint-Jean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Une communauté dynamique, urbaine et rurale, ancrée dans la tradition catholique acadienne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La fondation (1950)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828800" cy="45720"/>
          </a:xfrm>
          <a:prstGeom prst="rect">
            <a:avLst/>
          </a:prstGeom>
          <a:solidFill>
            <a:srgbClr val="C99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22 juillet 1950 : Mgr Joseph-Roméo Gagnon, évêque d'Edmundston, émet le décret d'érection canonique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Motivations : accroissement de la population des paroisses de l'Assomption et de Saint-Michel, éloignement des églises paroissiales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Territoire délimité par le fleuve Saint-Jean, la Petite Rivière, la voie ferrée du CN, le Falls Brook et la Rivière-au-Saumon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Premier curé : le Père Cyr Dubé (1914-1959), originaire de Saint-André, ordonné prêtre en 1940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Première messe paroissiale : 30 juillet 1950, dans une chapelle provisoire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Population initiale : 1 307 habitants répartis en 285 familles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La construction de l'église (1951-1953)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828800" cy="45720"/>
          </a:xfrm>
          <a:prstGeom prst="rect">
            <a:avLst/>
          </a:prstGeom>
          <a:solidFill>
            <a:srgbClr val="C99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15 avril 1951 : le Père Dubé annonce le contrat de construction attribué à la compagnie Dollard Bélanger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Coût de la construction : 770 000 $ — la plus basse soumission reçue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27 avril 1951 : bénédiction de l'orgue, avant même la fin des travaux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25 novembre 1951 : bénédiction de la cloche baptisée « Roméo » et « Georges », offerte par M. et Mme Wilmot Vasseur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31 août 1953 : cérémonie solennelle de bénédiction de l'église, en présence de Mgr Gagnon et Mgr Bernier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L'église de brique devient le cœur spirituel et communautaire de la paroisse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Développement communautaire (1956-1965)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828800" cy="45720"/>
          </a:xfrm>
          <a:prstGeom prst="rect">
            <a:avLst/>
          </a:prstGeom>
          <a:solidFill>
            <a:srgbClr val="C99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25 août 1956 : bénédiction de l'école Marie-Immaculée, une grande joie pour le curé et la communauté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31 mai 1958 : ordination sacerdotale du Père Normand Godbout dans l'église de Saint-Georges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1er janvier 1961 : installation d'une statue de Saint-Georges en marbre d'Italie sur le parvis de l'église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5 février 1961 : inauguration de la salle des Scouts et Guides sur le terrain de l'église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1962-1963 : création de la Caisse Populaire Saint-Georges (charte officielle le 4 décembre 1963)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1964 : nomination du vicaire Père Yvon Ouellet pour alléger la tâche du curé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1965 : le Père Rino Albert entre dans le nouveau presbytère, avec salle de réunion pour les comités paroissiaux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Chronologie : Les premières années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828800" cy="45720"/>
          </a:xfrm>
          <a:prstGeom prst="rect">
            <a:avLst/>
          </a:prstGeom>
          <a:solidFill>
            <a:srgbClr val="C99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2E5C"/>
                </a:solidFill>
              </a:defRPr>
            </a:pPr>
            <a:r>
              <a:t>22 juill. 1950</a:t>
            </a:r>
          </a:p>
        </p:txBody>
      </p:sp>
      <p:sp>
        <p:nvSpPr>
          <p:cNvPr id="6" name="Oval 5"/>
          <p:cNvSpPr/>
          <p:nvPr/>
        </p:nvSpPr>
        <p:spPr>
          <a:xfrm>
            <a:off x="2651760" y="1554480"/>
            <a:ext cx="182880" cy="182880"/>
          </a:xfrm>
          <a:prstGeom prst="ellipse">
            <a:avLst/>
          </a:prstGeom>
          <a:solidFill>
            <a:srgbClr val="C99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15768" y="1737360"/>
            <a:ext cx="27432" cy="6400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14630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Décret d'érection canonique par Mgr Joseph-Roméo Gagnon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2E5C"/>
                </a:solidFill>
              </a:defRPr>
            </a:pPr>
            <a:r>
              <a:t>30 juill. 1950</a:t>
            </a:r>
          </a:p>
        </p:txBody>
      </p:sp>
      <p:sp>
        <p:nvSpPr>
          <p:cNvPr id="10" name="Oval 9"/>
          <p:cNvSpPr/>
          <p:nvPr/>
        </p:nvSpPr>
        <p:spPr>
          <a:xfrm>
            <a:off x="2651760" y="2377440"/>
            <a:ext cx="182880" cy="182880"/>
          </a:xfrm>
          <a:prstGeom prst="ellipse">
            <a:avLst/>
          </a:prstGeom>
          <a:solidFill>
            <a:srgbClr val="C99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15768" y="2560320"/>
            <a:ext cx="27432" cy="6400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228600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Première messe paroissiale dans une chapelle provisoire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10896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2E5C"/>
                </a:solidFill>
              </a:defRPr>
            </a:pPr>
            <a:r>
              <a:t>15 avr. 1951</a:t>
            </a:r>
          </a:p>
        </p:txBody>
      </p:sp>
      <p:sp>
        <p:nvSpPr>
          <p:cNvPr id="14" name="Oval 13"/>
          <p:cNvSpPr/>
          <p:nvPr/>
        </p:nvSpPr>
        <p:spPr>
          <a:xfrm>
            <a:off x="2651760" y="3200400"/>
            <a:ext cx="182880" cy="182880"/>
          </a:xfrm>
          <a:prstGeom prst="ellipse">
            <a:avLst/>
          </a:prstGeom>
          <a:solidFill>
            <a:srgbClr val="C99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15768" y="3383280"/>
            <a:ext cx="27432" cy="6400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17520" y="310896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Contrat de construction de l'église signé avec Dollard Bélanger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93192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2E5C"/>
                </a:solidFill>
              </a:defRPr>
            </a:pPr>
            <a:r>
              <a:t>27 avr. 1951</a:t>
            </a:r>
          </a:p>
        </p:txBody>
      </p:sp>
      <p:sp>
        <p:nvSpPr>
          <p:cNvPr id="18" name="Oval 17"/>
          <p:cNvSpPr/>
          <p:nvPr/>
        </p:nvSpPr>
        <p:spPr>
          <a:xfrm>
            <a:off x="2651760" y="4023360"/>
            <a:ext cx="182880" cy="182880"/>
          </a:xfrm>
          <a:prstGeom prst="ellipse">
            <a:avLst/>
          </a:prstGeom>
          <a:solidFill>
            <a:srgbClr val="C99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15768" y="4206240"/>
            <a:ext cx="27432" cy="6400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17520" y="393192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Bénédiction de l'orgue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75488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2E5C"/>
                </a:solidFill>
              </a:defRPr>
            </a:pPr>
            <a:r>
              <a:t>25 nov. 1951</a:t>
            </a:r>
          </a:p>
        </p:txBody>
      </p:sp>
      <p:sp>
        <p:nvSpPr>
          <p:cNvPr id="22" name="Oval 21"/>
          <p:cNvSpPr/>
          <p:nvPr/>
        </p:nvSpPr>
        <p:spPr>
          <a:xfrm>
            <a:off x="2651760" y="4846320"/>
            <a:ext cx="182880" cy="182880"/>
          </a:xfrm>
          <a:prstGeom prst="ellipse">
            <a:avLst/>
          </a:prstGeom>
          <a:solidFill>
            <a:srgbClr val="C99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15768" y="5029200"/>
            <a:ext cx="27432" cy="6400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17520" y="475488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Bénédiction de la cloche « Roméo-Georges 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57784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2E5C"/>
                </a:solidFill>
              </a:defRPr>
            </a:pPr>
            <a:r>
              <a:t>31 août 1953</a:t>
            </a:r>
          </a:p>
        </p:txBody>
      </p:sp>
      <p:sp>
        <p:nvSpPr>
          <p:cNvPr id="26" name="Oval 25"/>
          <p:cNvSpPr/>
          <p:nvPr/>
        </p:nvSpPr>
        <p:spPr>
          <a:xfrm>
            <a:off x="2651760" y="5669280"/>
            <a:ext cx="182880" cy="182880"/>
          </a:xfrm>
          <a:prstGeom prst="ellipse">
            <a:avLst/>
          </a:prstGeom>
          <a:solidFill>
            <a:srgbClr val="C99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15768" y="5852160"/>
            <a:ext cx="27432" cy="6400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17520" y="55778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Bénédiction solennelle de l'église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0080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2E5C"/>
                </a:solidFill>
              </a:defRPr>
            </a:pPr>
            <a:r>
              <a:t>25 août 1956</a:t>
            </a:r>
          </a:p>
        </p:txBody>
      </p:sp>
      <p:sp>
        <p:nvSpPr>
          <p:cNvPr id="30" name="Oval 29"/>
          <p:cNvSpPr/>
          <p:nvPr/>
        </p:nvSpPr>
        <p:spPr>
          <a:xfrm>
            <a:off x="2651760" y="6492240"/>
            <a:ext cx="182880" cy="182880"/>
          </a:xfrm>
          <a:prstGeom prst="ellipse">
            <a:avLst/>
          </a:prstGeom>
          <a:solidFill>
            <a:srgbClr val="C99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15768" y="6675120"/>
            <a:ext cx="27432" cy="6400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17520" y="640080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Bénédiction de l'école Marie-Immaculée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722376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2E5C"/>
                </a:solidFill>
              </a:defRPr>
            </a:pPr>
            <a:r>
              <a:t>31 mai 1958</a:t>
            </a:r>
          </a:p>
        </p:txBody>
      </p:sp>
      <p:sp>
        <p:nvSpPr>
          <p:cNvPr id="34" name="Oval 33"/>
          <p:cNvSpPr/>
          <p:nvPr/>
        </p:nvSpPr>
        <p:spPr>
          <a:xfrm>
            <a:off x="2651760" y="7315200"/>
            <a:ext cx="182880" cy="182880"/>
          </a:xfrm>
          <a:prstGeom prst="ellipse">
            <a:avLst/>
          </a:prstGeom>
          <a:solidFill>
            <a:srgbClr val="C99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017520" y="722376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Ordination sacerdotale du Père Normand Godbout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Les pasteurs de la paroisse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828800" cy="45720"/>
          </a:xfrm>
          <a:prstGeom prst="rect">
            <a:avLst/>
          </a:prstGeom>
          <a:solidFill>
            <a:srgbClr val="C99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Père Cyr Dubé (1950-1959) : fondateur, bâtisseur de l'église, homme de grande piété et dévouement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Père Rino Albert : célèbre ses 25 ans de sacerdoce le 5 mai 1971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Père Alfred Ouellet : 25e anniversaire le 24 juillet 1977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Père Napoléon Michaud : 25e anniversaire le 13 juin 1982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Père Lewis Long : 25e anniversaire le 7 juin 1987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Chaque curé a marqué l'histoire de la paroisse par son engagement spirituel et communautaire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Anniversaires et célébrations mémorables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828800" cy="45720"/>
          </a:xfrm>
          <a:prstGeom prst="rect">
            <a:avLst/>
          </a:prstGeom>
          <a:solidFill>
            <a:srgbClr val="C99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28 décembre 1975 : 25e anniversaire de la fondation de la paroisse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22 juillet 1990 : 40e anniversaire de l'érection canonique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An 2000 : 50e anniversaire de la fondation, marquant le nouveau siècle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Ces célébrations témoignent de la vitalité et de la pérennité de la communauté paroissiale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La paroisse Saint-Georges continue de rayonner dans l'Unité pastorale Notre-Dame-du-Sacré-Cœur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Développements et héritage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828800" cy="45720"/>
          </a:xfrm>
          <a:prstGeom prst="rect">
            <a:avLst/>
          </a:prstGeom>
          <a:solidFill>
            <a:srgbClr val="C99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Années 1970 : construction de l'École de Métiers, devenue le campus de Grand-Sault du Collège Communautaire du Nouveau-Brunswick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Construction de la polyvalente Thomas-Albert, nommée en l'honneur de l'abbé Thomas Albert, historien du Madawaska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La statue de Saint-Georges en marbre d'Italie veille toujours sur le parvis de l'église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L'église de brique, bénie en 1953, demeure un lieu de culte actif et un symbole patrimonial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La paroisse perpétue la tradition de piété et d'activité féconde héritée de ses fondateurs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Saint-Georges aujourd'hui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828800" cy="45720"/>
          </a:xfrm>
          <a:prstGeom prst="rect">
            <a:avLst/>
          </a:prstGeom>
          <a:solidFill>
            <a:srgbClr val="C99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La messe du mardi à 19h est précédée du chapelet et de l'adoration dès 18h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La paroisse participe activement à la vie de l'Unité pastorale Notre-Dame-du-Sacré-Cœur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La salle paroissiale Saint-Georges accueille des événements communautaires comme le souper-bénéfice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La communauté continue de vivre sa foi dans l'esprit de Vatican II, fidèle à ses racines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Saint-Georges : une histoire vivante, tissée de dévotion, de solidarité et d'espérance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C9963A"/>
                </a:solidFill>
              </a:defRPr>
            </a:pPr>
            <a:r>
              <a:t>SAINT-GEORGES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Une histoire de foi, de courage et de communauté</a:t>
            </a:r>
            <a:br/>
            <a:r>
              <a:t>Depuis 1950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