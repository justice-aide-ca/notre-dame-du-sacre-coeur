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 type="custom"/>
  <p:notesSz cx="12192000" cy="6858000"/>
  <p:embeddedFontLst>
    <p:embeddedFont>
      <p:font typeface="Quattrocento Sans" charset="-122" pitchFamily="34"/>
      <p:regular r:id="rId17"/>
    </p:embeddedFont>
    <p:embeddedFont>
      <p:font typeface="Sorts Mill Goudy" charset="-122" pitchFamily="34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jpg"/><Relationship Id="rId3" Type="http://schemas.openxmlformats.org/officeDocument/2006/relationships/hyperlink" Target="https://diocese-edmundston.ca/fr/zp_st-andre.html" TargetMode="Externa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jpg"/><Relationship Id="rId3" Type="http://schemas.openxmlformats.org/officeDocument/2006/relationships/hyperlink" Target="https://diocese-edmundston.ca/fr/zp_st-andre.html" TargetMode="Externa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jpg"/><Relationship Id="rId3" Type="http://schemas.openxmlformats.org/officeDocument/2006/relationships/hyperlink" Target="https://diocese-edmundston.ca/fr/zp_st-andre.html" TargetMode="Externa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_1.jpg"/><Relationship Id="rId3" Type="http://schemas.openxmlformats.org/officeDocument/2006/relationships/hyperlink" Target="https://diocese-edmundston.ca/fr/zp_st-andre.html" TargetMode="Externa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jpg"/><Relationship Id="rId3" Type="http://schemas.openxmlformats.org/officeDocument/2006/relationships/image" Target="../media/image2_1.jpg"/><Relationship Id="rId4" Type="http://schemas.openxmlformats.org/officeDocument/2006/relationships/hyperlink" Target="https://diocese-edmundston.ca/fr/zp_st-andre.html" TargetMode="Externa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_1.jpg"/><Relationship Id="rId3" Type="http://schemas.openxmlformats.org/officeDocument/2006/relationships/hyperlink" Target="https://diocese-edmundston.ca/fr/zp_st-andre.html" TargetMode="Externa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_1.jpg"/><Relationship Id="rId3" Type="http://schemas.openxmlformats.org/officeDocument/2006/relationships/hyperlink" Target="https://diocese-edmundston.ca/fr/zp_st-andre.html" TargetMode="Externa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jpg"/><Relationship Id="rId3" Type="http://schemas.openxmlformats.org/officeDocument/2006/relationships/hyperlink" Target="https://diocese-edmundston.ca/fr/zp_st-andre.html" TargetMode="Externa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_1.jpg"/><Relationship Id="rId3" Type="http://schemas.openxmlformats.org/officeDocument/2006/relationships/hyperlink" Target="https://diocese-edmundston.ca/fr/zp_st-andre.html" TargetMode="Externa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_1.jpg"/><Relationship Id="rId3" Type="http://schemas.openxmlformats.org/officeDocument/2006/relationships/hyperlink" Target="https://diocese-edmundston.ca/fr/zp_st-andre.html" TargetMode="Externa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diocese-edmundston.ca/fr/zp_st-andre.html" TargetMode="Externa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_1.jpg"/><Relationship Id="rId3" Type="http://schemas.openxmlformats.org/officeDocument/2006/relationships/image" Target="../media/image7_1.jpg"/><Relationship Id="rId4" Type="http://schemas.openxmlformats.org/officeDocument/2006/relationships/hyperlink" Target="https://diocese-edmundston.ca/fr/zp_st-andre.html" TargetMode="Externa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_1.jpg"/><Relationship Id="rId3" Type="http://schemas.openxmlformats.org/officeDocument/2006/relationships/image" Target="../media/image9_1.jpg"/><Relationship Id="rId4" Type="http://schemas.openxmlformats.org/officeDocument/2006/relationships/hyperlink" Target="https://diocese-edmundston.ca/fr/zp_st-andre.html" TargetMode="Externa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secli.cef.fr/fiches-de-chants" TargetMode="Externa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-field"/>
          <p:cNvSpPr/>
          <p:nvPr/>
        </p:nvSpPr>
        <p:spPr>
          <a:xfrm>
            <a:off x="0" y="0"/>
            <a:ext cx="5562600" cy="6858000"/>
          </a:xfrm>
          <a:prstGeom prst="rect">
            <a:avLst/>
          </a:prstGeom>
          <a:solidFill>
            <a:srgbClr val="F5F0E6"/>
          </a:solidFill>
          <a:ln>
            <a:noFill/>
          </a:ln>
        </p:spPr>
      </p:sp>
      <p:pic>
        <p:nvPicPr>
          <p:cNvPr id="3" name="hero"/>
          <p:cNvPicPr/>
          <p:nvPr/>
        </p:nvPicPr>
        <p:blipFill>
          <a:blip r:embed="rId2"/>
          <a:srcRect t="16379" b="16379"/>
          <a:stretch>
            <a:fillRect/>
          </a:stretch>
        </p:blipFill>
        <p:spPr>
          <a:xfrm>
            <a:off x="5562600" y="0"/>
            <a:ext cx="6629400" cy="6858000"/>
          </a:xfrm>
          <a:prstGeom prst="rect">
            <a:avLst/>
          </a:prstGeom>
          <a:ln>
            <a:noFill/>
          </a:ln>
        </p:spPr>
      </p:pic>
      <p:sp>
        <p:nvSpPr>
          <p:cNvPr id="4" name="accent-block"/>
          <p:cNvSpPr/>
          <p:nvPr/>
        </p:nvSpPr>
        <p:spPr>
          <a:xfrm>
            <a:off x="5181600" y="0"/>
            <a:ext cx="381000" cy="6858000"/>
          </a:xfrm>
          <a:prstGeom prst="rect">
            <a:avLst/>
          </a:prstGeom>
          <a:solidFill>
            <a:srgbClr val="7A2E2E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660400" y="685800"/>
            <a:ext cx="4064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b="1" spc="120" kern="0">
                <a:solidFill>
                  <a:srgbClr val="7A2E2E"/>
                </a:solidFill>
                <a:latin typeface="Quattrocento Sans"/>
                <a:ea typeface="Quattrocento Sans"/>
              </a:rPr>
              <a:t>UNITÉ PASTORALE NOTRE-DAME-DU-SACRÉ-CŒUR</a:t>
            </a:r>
            <a:endParaRPr lang="en-US" sz="1000" noProof="1"/>
          </a:p>
        </p:txBody>
      </p:sp>
      <p:sp>
        <p:nvSpPr>
          <p:cNvPr id="6" name="cover-rul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660400" y="1168400"/>
            <a:ext cx="15748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38100">
            <a:solidFill>
              <a:srgbClr val="B08A3C"/>
            </a:solidFill>
          </a:ln>
        </p:spPr>
      </p:sp>
      <p:sp>
        <p:nvSpPr>
          <p:cNvPr id="7" name="title"/>
          <p:cNvSpPr txBox="1"/>
          <p:nvPr/>
        </p:nvSpPr>
        <p:spPr>
          <a:xfrm>
            <a:off x="660400" y="1600200"/>
            <a:ext cx="4191000" cy="162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02000"/>
              </a:lnSpc>
            </a:pPr>
            <a:r>
              <a:rPr lang="en-US" sz="4300" noProof="1" b="1">
                <a:solidFill>
                  <a:srgbClr val="2B2118"/>
                </a:solidFill>
                <a:latin typeface="Sorts Mill Goudy"/>
                <a:ea typeface="Sorts Mill Goudy"/>
              </a:rPr>
              <a:t>Paroisse Saint-André</a:t>
            </a:r>
            <a:endParaRPr lang="en-US" sz="4300" noProof="1"/>
          </a:p>
        </p:txBody>
      </p:sp>
      <p:sp>
        <p:nvSpPr>
          <p:cNvPr id="8" name="place"/>
          <p:cNvSpPr txBox="1"/>
          <p:nvPr/>
        </p:nvSpPr>
        <p:spPr>
          <a:xfrm>
            <a:off x="660400" y="3403600"/>
            <a:ext cx="3175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400" noProof="1" i="1">
                <a:solidFill>
                  <a:srgbClr val="7A2E2E"/>
                </a:solidFill>
                <a:latin typeface="Sorts Mill Goudy"/>
                <a:ea typeface="Sorts Mill Goudy"/>
              </a:rPr>
              <a:t>Saint-André</a:t>
            </a:r>
            <a:endParaRPr lang="en-US" sz="2400" noProof="1"/>
          </a:p>
        </p:txBody>
      </p:sp>
      <p:sp>
        <p:nvSpPr>
          <p:cNvPr id="9" name="years"/>
          <p:cNvSpPr txBox="1"/>
          <p:nvPr/>
        </p:nvSpPr>
        <p:spPr>
          <a:xfrm>
            <a:off x="660400" y="4191000"/>
            <a:ext cx="3937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spc="120" kern="0">
                <a:solidFill>
                  <a:srgbClr val="2B2118"/>
                </a:solidFill>
                <a:latin typeface="Quattrocento Sans"/>
                <a:ea typeface="Quattrocento Sans"/>
              </a:rPr>
              <a:t>1842 · 1904 · 1967 · aujourd’hui</a:t>
            </a:r>
            <a:endParaRPr lang="en-US" sz="1300" noProof="1"/>
          </a:p>
        </p:txBody>
      </p:sp>
      <p:sp>
        <p:nvSpPr>
          <p:cNvPr id="10" name="series"/>
          <p:cNvSpPr txBox="1"/>
          <p:nvPr/>
        </p:nvSpPr>
        <p:spPr>
          <a:xfrm>
            <a:off x="660400" y="5461000"/>
            <a:ext cx="3810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400" noProof="1">
                <a:solidFill>
                  <a:srgbClr val="6F6256"/>
                </a:solidFill>
                <a:latin typeface="Quattrocento Sans"/>
                <a:ea typeface="Quattrocento Sans"/>
              </a:rPr>
              <a:t>Histoire vivante
Quatre paroisses — une même famille de foi</a:t>
            </a:r>
            <a:endParaRPr lang="en-US" sz="1400" noProof="1"/>
          </a:p>
        </p:txBody>
      </p:sp>
      <p:sp>
        <p:nvSpPr>
          <p:cNvPr id="11" name="footer-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660400" y="6477000"/>
            <a:ext cx="108712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7A2E2E">
                <a:alpha val="33333"/>
              </a:srgbClr>
            </a:solidFill>
          </a:ln>
        </p:spPr>
      </p:sp>
      <p:sp>
        <p:nvSpPr>
          <p:cNvPr id="12" name="source"/>
          <p:cNvSpPr txBox="1"/>
          <p:nvPr/>
        </p:nvSpPr>
        <p:spPr>
          <a:xfrm>
            <a:off x="660400" y="6578600"/>
            <a:ext cx="914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6F6256"/>
                </a:solidFill>
                <a:latin typeface="Quattrocento Sans"/>
                <a:ea typeface="Quattrocento Sans"/>
              </a:rPr>
              <a:t>Source : </a:t>
            </a:r>
            <a:r>
              <a:rPr lang="en-US" sz="800" noProof="1" u="sng">
                <a:solidFill>
                  <a:srgbClr val="0563C1"/>
                </a:solidFill>
                <a:latin typeface="Quattrocento Sans"/>
                <a:ea typeface="Quattrocento Sans"/>
                <a:hlinkClick r:id="rId3"/>
              </a:rPr>
              <a:t>Diocèse d’Edmundston</a:t>
            </a:r>
            <a:r>
              <a:rPr lang="en-US" sz="800" noProof="1">
                <a:solidFill>
                  <a:srgbClr val="6F6256"/>
                </a:solidFill>
                <a:latin typeface="Quattrocento Sans"/>
                <a:ea typeface="Quattrocento Sans"/>
              </a:rPr>
              <a:t> — page historique, consultée le 7 août 2026 · Photos : Google, Archives R. H. S.-J. et contributions</a:t>
            </a:r>
            <a:endParaRPr lang="en-US" sz="800" noProof="1"/>
          </a:p>
        </p:txBody>
      </p:sp>
      <p:sp>
        <p:nvSpPr>
          <p:cNvPr id="13" name="page-num"/>
          <p:cNvSpPr txBox="1"/>
          <p:nvPr/>
        </p:nvSpPr>
        <p:spPr>
          <a:xfrm>
            <a:off x="10414000" y="6578600"/>
            <a:ext cx="11176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 b="1">
                <a:solidFill>
                  <a:srgbClr val="6F6256"/>
                </a:solidFill>
                <a:latin typeface="Quattrocento Sans"/>
                <a:ea typeface="Quattrocento Sans"/>
              </a:rPr>
              <a:t>01</a:t>
            </a:r>
            <a:endParaRPr lang="en-US" sz="9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in-image"/>
          <p:cNvPicPr/>
          <p:nvPr/>
        </p:nvPicPr>
        <p:blipFill>
          <a:blip r:embed="rId2"/>
          <a:srcRect t="7813" b="7813"/>
          <a:stretch>
            <a:fillRect/>
          </a:stretch>
        </p:blipFill>
        <p:spPr>
          <a:xfrm>
            <a:off x="0" y="0"/>
            <a:ext cx="5283200" cy="6858000"/>
          </a:xfrm>
          <a:prstGeom prst="rect">
            <a:avLst/>
          </a:prstGeom>
          <a:ln>
            <a:noFill/>
          </a:ln>
        </p:spPr>
      </p:pic>
      <p:sp>
        <p:nvSpPr>
          <p:cNvPr id="3" name="image-shade"/>
          <p:cNvSpPr/>
          <p:nvPr/>
        </p:nvSpPr>
        <p:spPr>
          <a:xfrm>
            <a:off x="0" y="0"/>
            <a:ext cx="5283200" cy="6858000"/>
          </a:xfrm>
          <a:prstGeom prst="rect">
            <a:avLst/>
          </a:prstGeom>
          <a:solidFill>
            <a:srgbClr val="17110D">
              <a:alpha val="13333"/>
            </a:srgbClr>
          </a:solidFill>
          <a:ln>
            <a:noFill/>
          </a:ln>
        </p:spPr>
      </p:sp>
      <p:sp>
        <p:nvSpPr>
          <p:cNvPr id="4" name="accent-edge"/>
          <p:cNvSpPr/>
          <p:nvPr/>
        </p:nvSpPr>
        <p:spPr>
          <a:xfrm>
            <a:off x="5283200" y="0"/>
            <a:ext cx="254000" cy="6858000"/>
          </a:xfrm>
          <a:prstGeom prst="rect">
            <a:avLst/>
          </a:prstGeom>
          <a:solidFill>
            <a:srgbClr val="7A2E2E"/>
          </a:solidFill>
          <a:ln>
            <a:noFill/>
          </a:ln>
        </p:spPr>
      </p:sp>
      <p:sp>
        <p:nvSpPr>
          <p:cNvPr id="5" name="year"/>
          <p:cNvSpPr txBox="1"/>
          <p:nvPr/>
        </p:nvSpPr>
        <p:spPr>
          <a:xfrm>
            <a:off x="6045200" y="685800"/>
            <a:ext cx="54864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5400" noProof="1" b="1">
                <a:solidFill>
                  <a:srgbClr val="7A2E2E"/>
                </a:solidFill>
                <a:latin typeface="Sorts Mill Goudy"/>
                <a:ea typeface="Sorts Mill Goudy"/>
              </a:rPr>
              <a:t>1842</a:t>
            </a:r>
            <a:endParaRPr lang="en-US" sz="5400" noProof="1"/>
          </a:p>
        </p:txBody>
      </p:sp>
      <p:sp>
        <p:nvSpPr>
          <p:cNvPr id="6" name="title-rul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6045200" y="1574800"/>
            <a:ext cx="13716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38100">
            <a:solidFill>
              <a:srgbClr val="B08A3C"/>
            </a:solidFill>
          </a:ln>
        </p:spPr>
      </p:sp>
      <p:sp>
        <p:nvSpPr>
          <p:cNvPr id="7" name="title"/>
          <p:cNvSpPr txBox="1"/>
          <p:nvPr/>
        </p:nvSpPr>
        <p:spPr>
          <a:xfrm>
            <a:off x="6045200" y="1854200"/>
            <a:ext cx="54864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08000"/>
              </a:lnSpc>
            </a:pPr>
            <a:r>
              <a:rPr lang="en-US" sz="3100" noProof="1" b="1">
                <a:solidFill>
                  <a:srgbClr val="2B2118"/>
                </a:solidFill>
                <a:latin typeface="Sorts Mill Goudy"/>
                <a:ea typeface="Sorts Mill Goudy"/>
              </a:rPr>
              <a:t>Une terre de vallons et de collines</a:t>
            </a:r>
            <a:endParaRPr lang="en-US" sz="3100" noProof="1"/>
          </a:p>
        </p:txBody>
      </p:sp>
      <p:sp>
        <p:nvSpPr>
          <p:cNvPr id="8" name="body"/>
          <p:cNvSpPr txBox="1"/>
          <p:nvPr/>
        </p:nvSpPr>
        <p:spPr>
          <a:xfrm>
            <a:off x="6045200" y="3022600"/>
            <a:ext cx="5486400" cy="208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2000"/>
              </a:lnSpc>
            </a:pPr>
            <a:r>
              <a:rPr lang="en-US" sz="1700" noProof="1">
                <a:solidFill>
                  <a:srgbClr val="2B2118"/>
                </a:solidFill>
                <a:latin typeface="Quattrocento Sans"/>
                <a:ea typeface="Quattrocento Sans"/>
              </a:rPr>
              <a:t>À l’intérieur des terres, Saint-André se distingue par ses vallons, ses monts et ses terres agricoles. Les premiers arpentages remontent à 1842, puis se poursuivent en 1851 et à partir de 1867.</a:t>
            </a:r>
            <a:endParaRPr lang="en-US" sz="1700" noProof="1"/>
          </a:p>
        </p:txBody>
      </p:sp>
      <p:sp>
        <p:nvSpPr>
          <p:cNvPr id="9" name="icon"/>
          <p:cNvSpPr/>
          <p:nvPr>
            <p:extLst>
              <p:ext uri="{F5677B7D-0D2A-4D9B-9A5C-6D8D7D0E5A5D}">
                <pptd:icon encoding="base64url">eyJpY29uTmFtZSI6ImZhczptb3VudGFpbiJ9</pptd:icon>
              </p:ext>
            </p:extLst>
          </p:nvPr>
        </p:nvSpPr>
        <p:spPr>
          <a:xfrm>
            <a:off x="6045200" y="5435600"/>
            <a:ext cx="482600" cy="482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7" y="0"/>
                </a:moveTo>
                <a:cubicBezTo>
                  <a:pt x="271" y="0"/>
                  <a:pt x="285" y="8"/>
                  <a:pt x="292" y="21"/>
                </a:cubicBezTo>
                <a:lnTo>
                  <a:pt x="508" y="421"/>
                </a:lnTo>
                <a:cubicBezTo>
                  <a:pt x="514" y="433"/>
                  <a:pt x="514" y="448"/>
                  <a:pt x="507" y="461"/>
                </a:cubicBezTo>
                <a:cubicBezTo>
                  <a:pt x="500" y="473"/>
                  <a:pt x="487" y="480"/>
                  <a:pt x="473" y="480"/>
                </a:cubicBezTo>
                <a:lnTo>
                  <a:pt x="41" y="480"/>
                </a:lnTo>
                <a:cubicBezTo>
                  <a:pt x="26" y="480"/>
                  <a:pt x="13" y="473"/>
                  <a:pt x="6" y="461"/>
                </a:cubicBezTo>
                <a:cubicBezTo>
                  <a:pt x="-1" y="448"/>
                  <a:pt x="-1" y="433"/>
                  <a:pt x="5" y="421"/>
                </a:cubicBezTo>
                <a:lnTo>
                  <a:pt x="221" y="21"/>
                </a:lnTo>
                <a:lnTo>
                  <a:pt x="224" y="16"/>
                </a:lnTo>
                <a:cubicBezTo>
                  <a:pt x="232" y="6"/>
                  <a:pt x="244" y="0"/>
                  <a:pt x="257" y="0"/>
                </a:cubicBezTo>
                <a:close/>
                <a:moveTo>
                  <a:pt x="170" y="250"/>
                </a:moveTo>
                <a:lnTo>
                  <a:pt x="197" y="277"/>
                </a:lnTo>
                <a:cubicBezTo>
                  <a:pt x="203" y="283"/>
                  <a:pt x="214" y="283"/>
                  <a:pt x="220" y="277"/>
                </a:cubicBezTo>
                <a:lnTo>
                  <a:pt x="263" y="233"/>
                </a:lnTo>
                <a:cubicBezTo>
                  <a:pt x="269" y="227"/>
                  <a:pt x="277" y="224"/>
                  <a:pt x="286" y="224"/>
                </a:cubicBezTo>
                <a:lnTo>
                  <a:pt x="329" y="224"/>
                </a:lnTo>
                <a:lnTo>
                  <a:pt x="256" y="90"/>
                </a:lnTo>
                <a:lnTo>
                  <a:pt x="170" y="250"/>
                </a:lnTo>
                <a:close/>
              </a:path>
            </a:pathLst>
          </a:custGeom>
          <a:solidFill>
            <a:srgbClr val="B08A3C"/>
          </a:solidFill>
          <a:ln>
            <a:noFill/>
          </a:ln>
        </p:spPr>
      </p:sp>
      <p:sp>
        <p:nvSpPr>
          <p:cNvPr id="10" name="footer-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660400" y="6477000"/>
            <a:ext cx="108712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7A2E2E">
                <a:alpha val="33333"/>
              </a:srgbClr>
            </a:solidFill>
          </a:ln>
        </p:spPr>
      </p:sp>
      <p:sp>
        <p:nvSpPr>
          <p:cNvPr id="11" name="source"/>
          <p:cNvSpPr txBox="1"/>
          <p:nvPr/>
        </p:nvSpPr>
        <p:spPr>
          <a:xfrm>
            <a:off x="660400" y="6578600"/>
            <a:ext cx="914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6F6256"/>
                </a:solidFill>
                <a:latin typeface="Quattrocento Sans"/>
                <a:ea typeface="Quattrocento Sans"/>
              </a:rPr>
              <a:t>Source : </a:t>
            </a:r>
            <a:r>
              <a:rPr lang="en-US" sz="800" noProof="1" u="sng">
                <a:solidFill>
                  <a:srgbClr val="0563C1"/>
                </a:solidFill>
                <a:latin typeface="Quattrocento Sans"/>
                <a:ea typeface="Quattrocento Sans"/>
                <a:hlinkClick r:id="rId3"/>
              </a:rPr>
              <a:t>Diocèse d’Edmundston</a:t>
            </a:r>
            <a:r>
              <a:rPr lang="en-US" sz="800" noProof="1">
                <a:solidFill>
                  <a:srgbClr val="6F6256"/>
                </a:solidFill>
                <a:latin typeface="Quattrocento Sans"/>
                <a:ea typeface="Quattrocento Sans"/>
              </a:rPr>
              <a:t> — page historique, consultée le 7 août 2026 · Photos : Google, Archives R. H. S.-J. et contributions</a:t>
            </a:r>
            <a:endParaRPr lang="en-US" sz="800" noProof="1"/>
          </a:p>
        </p:txBody>
      </p:sp>
      <p:sp>
        <p:nvSpPr>
          <p:cNvPr id="12" name="page-num"/>
          <p:cNvSpPr txBox="1"/>
          <p:nvPr/>
        </p:nvSpPr>
        <p:spPr>
          <a:xfrm>
            <a:off x="10414000" y="6578600"/>
            <a:ext cx="11176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 b="1">
                <a:solidFill>
                  <a:srgbClr val="6F6256"/>
                </a:solidFill>
                <a:latin typeface="Quattrocento Sans"/>
                <a:ea typeface="Quattrocento Sans"/>
              </a:rPr>
              <a:t>02</a:t>
            </a:r>
            <a:endParaRPr lang="en-US" sz="9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iant-year"/>
          <p:cNvSpPr txBox="1"/>
          <p:nvPr/>
        </p:nvSpPr>
        <p:spPr>
          <a:xfrm>
            <a:off x="660400" y="736600"/>
            <a:ext cx="3429000" cy="116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7800" noProof="1" b="1">
                <a:solidFill>
                  <a:srgbClr val="7A2E2E"/>
                </a:solidFill>
                <a:latin typeface="Sorts Mill Goudy"/>
                <a:ea typeface="Sorts Mill Goudy"/>
              </a:rPr>
              <a:t>1904</a:t>
            </a:r>
            <a:endParaRPr lang="en-US" sz="7800" noProof="1"/>
          </a:p>
        </p:txBody>
      </p:sp>
      <p:sp>
        <p:nvSpPr>
          <p:cNvPr id="3" name="giant-rul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660400" y="2032000"/>
            <a:ext cx="22860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50800">
            <a:solidFill>
              <a:srgbClr val="B08A3C"/>
            </a:solidFill>
          </a:ln>
        </p:spPr>
      </p:sp>
      <p:sp>
        <p:nvSpPr>
          <p:cNvPr id="4" name="title"/>
          <p:cNvSpPr txBox="1"/>
          <p:nvPr/>
        </p:nvSpPr>
        <p:spPr>
          <a:xfrm>
            <a:off x="4572000" y="914400"/>
            <a:ext cx="6604000" cy="990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06000"/>
              </a:lnSpc>
            </a:pPr>
            <a:r>
              <a:rPr lang="en-US" sz="3800" noProof="1" b="1">
                <a:solidFill>
                  <a:srgbClr val="2B2118"/>
                </a:solidFill>
                <a:latin typeface="Sorts Mill Goudy"/>
                <a:ea typeface="Sorts Mill Goudy"/>
              </a:rPr>
              <a:t>Une paroisse pour les pionniers</a:t>
            </a:r>
            <a:endParaRPr lang="en-US" sz="3800" noProof="1"/>
          </a:p>
        </p:txBody>
      </p:sp>
      <p:sp>
        <p:nvSpPr>
          <p:cNvPr id="5" name="body"/>
          <p:cNvSpPr txBox="1"/>
          <p:nvPr/>
        </p:nvSpPr>
        <p:spPr>
          <a:xfrm>
            <a:off x="4572000" y="2133600"/>
            <a:ext cx="6350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2000"/>
              </a:lnSpc>
            </a:pPr>
            <a:r>
              <a:rPr lang="en-US" sz="1800" noProof="1">
                <a:solidFill>
                  <a:srgbClr val="2B2118"/>
                </a:solidFill>
                <a:latin typeface="Quattrocento Sans"/>
                <a:ea typeface="Quattrocento Sans"/>
              </a:rPr>
              <a:t>Avant 1904, les familles fréquentent l’Assomption, Van Buren ou Saint-Léonard-Parent. La fondation d’une paroisse distincte par Mgr Barry est accueillie avec grande joie.</a:t>
            </a:r>
            <a:endParaRPr lang="en-US" sz="1800" noProof="1"/>
          </a:p>
        </p:txBody>
      </p:sp>
      <p:pic>
        <p:nvPicPr>
          <p:cNvPr id="6" name="wide-image"/>
          <p:cNvPicPr/>
          <p:nvPr/>
        </p:nvPicPr>
        <p:blipFill>
          <a:blip r:embed="rId2"/>
          <a:srcRect t="44609" b="44609"/>
          <a:stretch>
            <a:fillRect/>
          </a:stretch>
        </p:blipFill>
        <p:spPr>
          <a:xfrm>
            <a:off x="660400" y="4216400"/>
            <a:ext cx="10871200" cy="1803400"/>
          </a:xfrm>
          <a:prstGeom prst="rect">
            <a:avLst/>
          </a:prstGeom>
          <a:ln>
            <a:noFill/>
          </a:ln>
        </p:spPr>
      </p:pic>
      <p:sp>
        <p:nvSpPr>
          <p:cNvPr id="7" name="wide-shade"/>
          <p:cNvSpPr/>
          <p:nvPr/>
        </p:nvSpPr>
        <p:spPr>
          <a:xfrm>
            <a:off x="660400" y="4216400"/>
            <a:ext cx="10871200" cy="1803400"/>
          </a:xfrm>
          <a:prstGeom prst="rect">
            <a:avLst/>
          </a:prstGeom>
          <a:solidFill>
            <a:srgbClr val="17110D">
              <a:alpha val="18824"/>
            </a:srgbClr>
          </a:solidFill>
          <a:ln>
            <a:noFill/>
          </a:ln>
        </p:spPr>
      </p:sp>
      <p:sp>
        <p:nvSpPr>
          <p:cNvPr id="8" name="footer-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660400" y="6477000"/>
            <a:ext cx="108712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7A2E2E">
                <a:alpha val="33333"/>
              </a:srgbClr>
            </a:solidFill>
          </a:ln>
        </p:spPr>
      </p:sp>
      <p:sp>
        <p:nvSpPr>
          <p:cNvPr id="9" name="source"/>
          <p:cNvSpPr txBox="1"/>
          <p:nvPr/>
        </p:nvSpPr>
        <p:spPr>
          <a:xfrm>
            <a:off x="660400" y="6578600"/>
            <a:ext cx="914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6F6256"/>
                </a:solidFill>
                <a:latin typeface="Quattrocento Sans"/>
                <a:ea typeface="Quattrocento Sans"/>
              </a:rPr>
              <a:t>Source : </a:t>
            </a:r>
            <a:r>
              <a:rPr lang="en-US" sz="800" noProof="1" u="sng">
                <a:solidFill>
                  <a:srgbClr val="0563C1"/>
                </a:solidFill>
                <a:latin typeface="Quattrocento Sans"/>
                <a:ea typeface="Quattrocento Sans"/>
                <a:hlinkClick r:id="rId3"/>
              </a:rPr>
              <a:t>Diocèse d’Edmundston</a:t>
            </a:r>
            <a:r>
              <a:rPr lang="en-US" sz="800" noProof="1">
                <a:solidFill>
                  <a:srgbClr val="6F6256"/>
                </a:solidFill>
                <a:latin typeface="Quattrocento Sans"/>
                <a:ea typeface="Quattrocento Sans"/>
              </a:rPr>
              <a:t> — page historique, consultée le 7 août 2026 · Photos : Google, Archives R. H. S.-J. et contributions</a:t>
            </a:r>
            <a:endParaRPr lang="en-US" sz="800" noProof="1"/>
          </a:p>
        </p:txBody>
      </p:sp>
      <p:sp>
        <p:nvSpPr>
          <p:cNvPr id="10" name="page-num"/>
          <p:cNvSpPr txBox="1"/>
          <p:nvPr/>
        </p:nvSpPr>
        <p:spPr>
          <a:xfrm>
            <a:off x="10414000" y="6578600"/>
            <a:ext cx="11176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 b="1">
                <a:solidFill>
                  <a:srgbClr val="6F6256"/>
                </a:solidFill>
                <a:latin typeface="Quattrocento Sans"/>
                <a:ea typeface="Quattrocento Sans"/>
              </a:rPr>
              <a:t>03</a:t>
            </a:r>
            <a:endParaRPr lang="en-US" sz="9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in-image"/>
          <p:cNvPicPr/>
          <p:nvPr/>
        </p:nvPicPr>
        <p:blipFill>
          <a:blip r:embed="rId2"/>
          <a:srcRect l="29086" r="29086"/>
          <a:stretch>
            <a:fillRect/>
          </a:stretch>
        </p:blipFill>
        <p:spPr>
          <a:xfrm>
            <a:off x="0" y="0"/>
            <a:ext cx="5283200" cy="6858000"/>
          </a:xfrm>
          <a:prstGeom prst="rect">
            <a:avLst/>
          </a:prstGeom>
          <a:ln>
            <a:noFill/>
          </a:ln>
        </p:spPr>
      </p:pic>
      <p:sp>
        <p:nvSpPr>
          <p:cNvPr id="3" name="image-shade"/>
          <p:cNvSpPr/>
          <p:nvPr/>
        </p:nvSpPr>
        <p:spPr>
          <a:xfrm>
            <a:off x="0" y="0"/>
            <a:ext cx="5283200" cy="6858000"/>
          </a:xfrm>
          <a:prstGeom prst="rect">
            <a:avLst/>
          </a:prstGeom>
          <a:solidFill>
            <a:srgbClr val="17110D">
              <a:alpha val="13333"/>
            </a:srgbClr>
          </a:solidFill>
          <a:ln>
            <a:noFill/>
          </a:ln>
        </p:spPr>
      </p:sp>
      <p:sp>
        <p:nvSpPr>
          <p:cNvPr id="4" name="accent-edge"/>
          <p:cNvSpPr/>
          <p:nvPr/>
        </p:nvSpPr>
        <p:spPr>
          <a:xfrm>
            <a:off x="5283200" y="0"/>
            <a:ext cx="254000" cy="6858000"/>
          </a:xfrm>
          <a:prstGeom prst="rect">
            <a:avLst/>
          </a:prstGeom>
          <a:solidFill>
            <a:srgbClr val="7A2E2E"/>
          </a:solidFill>
          <a:ln>
            <a:noFill/>
          </a:ln>
        </p:spPr>
      </p:sp>
      <p:sp>
        <p:nvSpPr>
          <p:cNvPr id="5" name="year"/>
          <p:cNvSpPr txBox="1"/>
          <p:nvPr/>
        </p:nvSpPr>
        <p:spPr>
          <a:xfrm>
            <a:off x="6045200" y="685800"/>
            <a:ext cx="54864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5400" noProof="1" b="1">
                <a:solidFill>
                  <a:srgbClr val="7A2E2E"/>
                </a:solidFill>
                <a:latin typeface="Sorts Mill Goudy"/>
                <a:ea typeface="Sorts Mill Goudy"/>
              </a:rPr>
              <a:t>Racines</a:t>
            </a:r>
            <a:endParaRPr lang="en-US" sz="5400" noProof="1"/>
          </a:p>
        </p:txBody>
      </p:sp>
      <p:sp>
        <p:nvSpPr>
          <p:cNvPr id="6" name="title-rul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6045200" y="1574800"/>
            <a:ext cx="13716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38100">
            <a:solidFill>
              <a:srgbClr val="B08A3C"/>
            </a:solidFill>
          </a:ln>
        </p:spPr>
      </p:sp>
      <p:sp>
        <p:nvSpPr>
          <p:cNvPr id="7" name="title"/>
          <p:cNvSpPr txBox="1"/>
          <p:nvPr/>
        </p:nvSpPr>
        <p:spPr>
          <a:xfrm>
            <a:off x="6045200" y="1854200"/>
            <a:ext cx="54864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08000"/>
              </a:lnSpc>
            </a:pPr>
            <a:r>
              <a:rPr lang="en-US" sz="3100" noProof="1" b="1">
                <a:solidFill>
                  <a:srgbClr val="2B2118"/>
                </a:solidFill>
                <a:latin typeface="Sorts Mill Goudy"/>
                <a:ea typeface="Sorts Mill Goudy"/>
              </a:rPr>
              <a:t>Québec et Acadie se rencontrent</a:t>
            </a:r>
            <a:endParaRPr lang="en-US" sz="3100" noProof="1"/>
          </a:p>
        </p:txBody>
      </p:sp>
      <p:sp>
        <p:nvSpPr>
          <p:cNvPr id="8" name="body"/>
          <p:cNvSpPr txBox="1"/>
          <p:nvPr/>
        </p:nvSpPr>
        <p:spPr>
          <a:xfrm>
            <a:off x="6045200" y="3022600"/>
            <a:ext cx="5486400" cy="208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2000"/>
              </a:lnSpc>
            </a:pPr>
            <a:r>
              <a:rPr lang="en-US" sz="1700" noProof="1">
                <a:solidFill>
                  <a:srgbClr val="2B2118"/>
                </a:solidFill>
                <a:latin typeface="Quattrocento Sans"/>
                <a:ea typeface="Quattrocento Sans"/>
              </a:rPr>
              <a:t>Des familles venues de Québec et d’autres de descendance acadienne — Cormier, Godreau, Cyr, Mazerolle — prennent part aux travaux de colonisation et façonnent le caractère du milieu.</a:t>
            </a:r>
            <a:endParaRPr lang="en-US" sz="1700" noProof="1"/>
          </a:p>
        </p:txBody>
      </p:sp>
      <p:sp>
        <p:nvSpPr>
          <p:cNvPr id="9" name="icon"/>
          <p:cNvSpPr/>
          <p:nvPr>
            <p:extLst>
              <p:ext uri="{F5677B7D-0D2A-4D9B-9A5C-6D8D7D0E5A5D}">
                <pptd:icon encoding="base64url">eyJpY29uTmFtZSI6ImZhczpwZW9wbGUtZ3JvdXAifQ</pptd:icon>
              </p:ext>
            </p:extLst>
          </p:nvPr>
        </p:nvSpPr>
        <p:spPr>
          <a:xfrm>
            <a:off x="6045200" y="5435600"/>
            <a:ext cx="482600" cy="482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91" y="0"/>
                  <a:pt x="320" y="29"/>
                  <a:pt x="320" y="64"/>
                </a:cubicBezTo>
                <a:cubicBezTo>
                  <a:pt x="320" y="99"/>
                  <a:pt x="291" y="128"/>
                  <a:pt x="256" y="128"/>
                </a:cubicBezTo>
                <a:cubicBezTo>
                  <a:pt x="221" y="128"/>
                  <a:pt x="192" y="99"/>
                  <a:pt x="192" y="64"/>
                </a:cubicBezTo>
                <a:cubicBezTo>
                  <a:pt x="192" y="29"/>
                  <a:pt x="221" y="0"/>
                  <a:pt x="256" y="0"/>
                </a:cubicBezTo>
                <a:close/>
              </a:path>
              <a:path w="512" h="512">
                <a:moveTo>
                  <a:pt x="352" y="312"/>
                </a:moveTo>
                <a:cubicBezTo>
                  <a:pt x="352" y="337"/>
                  <a:pt x="339" y="359"/>
                  <a:pt x="320" y="372"/>
                </a:cubicBezTo>
                <a:lnTo>
                  <a:pt x="320" y="464"/>
                </a:lnTo>
                <a:cubicBezTo>
                  <a:pt x="320" y="491"/>
                  <a:pt x="299" y="512"/>
                  <a:pt x="272" y="512"/>
                </a:cubicBezTo>
                <a:lnTo>
                  <a:pt x="240" y="512"/>
                </a:lnTo>
                <a:cubicBezTo>
                  <a:pt x="214" y="512"/>
                  <a:pt x="192" y="491"/>
                  <a:pt x="192" y="464"/>
                </a:cubicBezTo>
                <a:lnTo>
                  <a:pt x="192" y="372"/>
                </a:lnTo>
                <a:cubicBezTo>
                  <a:pt x="173" y="359"/>
                  <a:pt x="160" y="337"/>
                  <a:pt x="160" y="312"/>
                </a:cubicBezTo>
                <a:lnTo>
                  <a:pt x="160" y="272"/>
                </a:lnTo>
                <a:cubicBezTo>
                  <a:pt x="160" y="219"/>
                  <a:pt x="203" y="176"/>
                  <a:pt x="256" y="176"/>
                </a:cubicBezTo>
                <a:cubicBezTo>
                  <a:pt x="309" y="176"/>
                  <a:pt x="352" y="219"/>
                  <a:pt x="352" y="272"/>
                </a:cubicBezTo>
                <a:lnTo>
                  <a:pt x="352" y="312"/>
                </a:lnTo>
                <a:close/>
              </a:path>
              <a:path w="512" h="512">
                <a:moveTo>
                  <a:pt x="96" y="32"/>
                </a:moveTo>
                <a:cubicBezTo>
                  <a:pt x="127" y="32"/>
                  <a:pt x="152" y="57"/>
                  <a:pt x="152" y="88"/>
                </a:cubicBezTo>
                <a:cubicBezTo>
                  <a:pt x="152" y="119"/>
                  <a:pt x="127" y="144"/>
                  <a:pt x="96" y="144"/>
                </a:cubicBezTo>
                <a:cubicBezTo>
                  <a:pt x="65" y="144"/>
                  <a:pt x="40" y="119"/>
                  <a:pt x="40" y="88"/>
                </a:cubicBezTo>
                <a:cubicBezTo>
                  <a:pt x="40" y="57"/>
                  <a:pt x="65" y="32"/>
                  <a:pt x="96" y="32"/>
                </a:cubicBezTo>
                <a:close/>
              </a:path>
              <a:path w="512" h="512">
                <a:moveTo>
                  <a:pt x="112" y="272"/>
                </a:moveTo>
                <a:lnTo>
                  <a:pt x="112" y="304"/>
                </a:lnTo>
                <a:cubicBezTo>
                  <a:pt x="112" y="337"/>
                  <a:pt x="124" y="366"/>
                  <a:pt x="144" y="389"/>
                </a:cubicBezTo>
                <a:lnTo>
                  <a:pt x="144" y="464"/>
                </a:lnTo>
                <a:cubicBezTo>
                  <a:pt x="144" y="465"/>
                  <a:pt x="144" y="467"/>
                  <a:pt x="144" y="468"/>
                </a:cubicBezTo>
                <a:cubicBezTo>
                  <a:pt x="136" y="475"/>
                  <a:pt x="124" y="480"/>
                  <a:pt x="112" y="480"/>
                </a:cubicBezTo>
                <a:lnTo>
                  <a:pt x="80" y="480"/>
                </a:lnTo>
                <a:cubicBezTo>
                  <a:pt x="54" y="480"/>
                  <a:pt x="32" y="459"/>
                  <a:pt x="32" y="432"/>
                </a:cubicBezTo>
                <a:lnTo>
                  <a:pt x="32" y="375"/>
                </a:lnTo>
                <a:cubicBezTo>
                  <a:pt x="13" y="364"/>
                  <a:pt x="0" y="344"/>
                  <a:pt x="0" y="320"/>
                </a:cubicBezTo>
                <a:lnTo>
                  <a:pt x="0" y="288"/>
                </a:lnTo>
                <a:cubicBezTo>
                  <a:pt x="0" y="235"/>
                  <a:pt x="43" y="192"/>
                  <a:pt x="96" y="192"/>
                </a:cubicBezTo>
                <a:cubicBezTo>
                  <a:pt x="109" y="192"/>
                  <a:pt x="121" y="195"/>
                  <a:pt x="132" y="199"/>
                </a:cubicBezTo>
                <a:cubicBezTo>
                  <a:pt x="119" y="220"/>
                  <a:pt x="112" y="245"/>
                  <a:pt x="112" y="272"/>
                </a:cubicBezTo>
                <a:close/>
              </a:path>
              <a:path w="512" h="512">
                <a:moveTo>
                  <a:pt x="368" y="464"/>
                </a:moveTo>
                <a:lnTo>
                  <a:pt x="368" y="389"/>
                </a:lnTo>
                <a:cubicBezTo>
                  <a:pt x="388" y="366"/>
                  <a:pt x="400" y="337"/>
                  <a:pt x="400" y="304"/>
                </a:cubicBezTo>
                <a:lnTo>
                  <a:pt x="400" y="272"/>
                </a:lnTo>
                <a:cubicBezTo>
                  <a:pt x="400" y="245"/>
                  <a:pt x="393" y="220"/>
                  <a:pt x="380" y="199"/>
                </a:cubicBezTo>
                <a:cubicBezTo>
                  <a:pt x="391" y="194"/>
                  <a:pt x="403" y="192"/>
                  <a:pt x="416" y="192"/>
                </a:cubicBezTo>
                <a:cubicBezTo>
                  <a:pt x="469" y="192"/>
                  <a:pt x="512" y="235"/>
                  <a:pt x="512" y="288"/>
                </a:cubicBezTo>
                <a:lnTo>
                  <a:pt x="512" y="320"/>
                </a:lnTo>
                <a:cubicBezTo>
                  <a:pt x="512" y="344"/>
                  <a:pt x="499" y="364"/>
                  <a:pt x="480" y="375"/>
                </a:cubicBezTo>
                <a:lnTo>
                  <a:pt x="480" y="432"/>
                </a:lnTo>
                <a:cubicBezTo>
                  <a:pt x="480" y="459"/>
                  <a:pt x="459" y="480"/>
                  <a:pt x="432" y="480"/>
                </a:cubicBezTo>
                <a:lnTo>
                  <a:pt x="400" y="480"/>
                </a:lnTo>
                <a:cubicBezTo>
                  <a:pt x="388" y="480"/>
                  <a:pt x="376" y="475"/>
                  <a:pt x="368" y="468"/>
                </a:cubicBezTo>
                <a:cubicBezTo>
                  <a:pt x="368" y="467"/>
                  <a:pt x="368" y="465"/>
                  <a:pt x="368" y="464"/>
                </a:cubicBezTo>
                <a:close/>
              </a:path>
              <a:path w="512" h="512">
                <a:moveTo>
                  <a:pt x="416" y="32"/>
                </a:moveTo>
                <a:cubicBezTo>
                  <a:pt x="447" y="32"/>
                  <a:pt x="472" y="57"/>
                  <a:pt x="472" y="88"/>
                </a:cubicBezTo>
                <a:cubicBezTo>
                  <a:pt x="472" y="119"/>
                  <a:pt x="447" y="144"/>
                  <a:pt x="416" y="144"/>
                </a:cubicBezTo>
                <a:cubicBezTo>
                  <a:pt x="385" y="144"/>
                  <a:pt x="360" y="119"/>
                  <a:pt x="360" y="88"/>
                </a:cubicBezTo>
                <a:cubicBezTo>
                  <a:pt x="360" y="57"/>
                  <a:pt x="385" y="32"/>
                  <a:pt x="416" y="32"/>
                </a:cubicBezTo>
                <a:close/>
              </a:path>
            </a:pathLst>
          </a:custGeom>
          <a:solidFill>
            <a:srgbClr val="B08A3C"/>
          </a:solidFill>
          <a:ln>
            <a:noFill/>
          </a:ln>
        </p:spPr>
      </p:sp>
      <p:sp>
        <p:nvSpPr>
          <p:cNvPr id="10" name="footer-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660400" y="6477000"/>
            <a:ext cx="108712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7A2E2E">
                <a:alpha val="33333"/>
              </a:srgbClr>
            </a:solidFill>
          </a:ln>
        </p:spPr>
      </p:sp>
      <p:sp>
        <p:nvSpPr>
          <p:cNvPr id="11" name="source"/>
          <p:cNvSpPr txBox="1"/>
          <p:nvPr/>
        </p:nvSpPr>
        <p:spPr>
          <a:xfrm>
            <a:off x="660400" y="6578600"/>
            <a:ext cx="914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6F6256"/>
                </a:solidFill>
                <a:latin typeface="Quattrocento Sans"/>
                <a:ea typeface="Quattrocento Sans"/>
              </a:rPr>
              <a:t>Source : </a:t>
            </a:r>
            <a:r>
              <a:rPr lang="en-US" sz="800" noProof="1" u="sng">
                <a:solidFill>
                  <a:srgbClr val="0563C1"/>
                </a:solidFill>
                <a:latin typeface="Quattrocento Sans"/>
                <a:ea typeface="Quattrocento Sans"/>
                <a:hlinkClick r:id="rId3"/>
              </a:rPr>
              <a:t>Diocèse d’Edmundston</a:t>
            </a:r>
            <a:r>
              <a:rPr lang="en-US" sz="800" noProof="1">
                <a:solidFill>
                  <a:srgbClr val="6F6256"/>
                </a:solidFill>
                <a:latin typeface="Quattrocento Sans"/>
                <a:ea typeface="Quattrocento Sans"/>
              </a:rPr>
              <a:t> — page historique, consultée le 7 août 2026 · Photos : Google, Archives R. H. S.-J. et contributions</a:t>
            </a:r>
            <a:endParaRPr lang="en-US" sz="800" noProof="1"/>
          </a:p>
        </p:txBody>
      </p:sp>
      <p:sp>
        <p:nvSpPr>
          <p:cNvPr id="12" name="page-num"/>
          <p:cNvSpPr txBox="1"/>
          <p:nvPr/>
        </p:nvSpPr>
        <p:spPr>
          <a:xfrm>
            <a:off x="10414000" y="6578600"/>
            <a:ext cx="11176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 b="1">
                <a:solidFill>
                  <a:srgbClr val="6F6256"/>
                </a:solidFill>
                <a:latin typeface="Quattrocento Sans"/>
                <a:ea typeface="Quattrocento Sans"/>
              </a:rPr>
              <a:t>04</a:t>
            </a:r>
            <a:endParaRPr lang="en-US" sz="9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blipFill>
          <a:blip r:embed="rId2"/>
          <a:srcRect t="31719" b="31719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-image"/>
          <p:cNvPicPr/>
          <p:nvPr/>
        </p:nvPicPr>
        <p:blipFill>
          <a:blip r:embed="rId3"/>
          <a:srcRect t="31719" b="3171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dark-overlay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10D">
              <a:alpha val="78039"/>
            </a:srgbClr>
          </a:solidFill>
          <a:ln>
            <a:noFill/>
          </a:ln>
        </p:spPr>
      </p:sp>
      <p:sp>
        <p:nvSpPr>
          <p:cNvPr id="4" name="year"/>
          <p:cNvSpPr txBox="1"/>
          <p:nvPr/>
        </p:nvSpPr>
        <p:spPr>
          <a:xfrm>
            <a:off x="660400" y="685800"/>
            <a:ext cx="3302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noProof="1" b="1" spc="120" kern="0">
                <a:solidFill>
                  <a:srgbClr val="B08A3C"/>
                </a:solidFill>
                <a:latin typeface="Quattrocento Sans"/>
                <a:ea typeface="Quattrocento Sans"/>
              </a:rPr>
              <a:t>Terre</a:t>
            </a:r>
            <a:endParaRPr lang="en-US" sz="2000" noProof="1"/>
          </a:p>
        </p:txBody>
      </p:sp>
      <p:sp>
        <p:nvSpPr>
          <p:cNvPr id="5" name="quote-rul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660400" y="1600200"/>
            <a:ext cx="18796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50800">
            <a:solidFill>
              <a:srgbClr val="B08A3C"/>
            </a:solidFill>
          </a:ln>
        </p:spPr>
      </p:sp>
      <p:sp>
        <p:nvSpPr>
          <p:cNvPr id="6" name="title"/>
          <p:cNvSpPr txBox="1"/>
          <p:nvPr/>
        </p:nvSpPr>
        <p:spPr>
          <a:xfrm>
            <a:off x="660400" y="2006600"/>
            <a:ext cx="7874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05000"/>
              </a:lnSpc>
            </a:pPr>
            <a:r>
              <a:rPr lang="en-US" sz="4600" noProof="1" b="1">
                <a:solidFill>
                  <a:srgbClr val="F5F0E6"/>
                </a:solidFill>
                <a:latin typeface="Sorts Mill Goudy"/>
                <a:ea typeface="Sorts Mill Goudy"/>
              </a:rPr>
              <a:t>La pomme de terre et la forêt</a:t>
            </a:r>
            <a:endParaRPr lang="en-US" sz="4600" noProof="1"/>
          </a:p>
        </p:txBody>
      </p:sp>
      <p:sp>
        <p:nvSpPr>
          <p:cNvPr id="7" name="quote-mark"/>
          <p:cNvSpPr txBox="1"/>
          <p:nvPr/>
        </p:nvSpPr>
        <p:spPr>
          <a:xfrm>
            <a:off x="685800" y="3581400"/>
            <a:ext cx="1143000" cy="1092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7800" noProof="1" b="1">
                <a:solidFill>
                  <a:srgbClr val="B08A3C"/>
                </a:solidFill>
                <a:latin typeface="Sorts Mill Goudy"/>
                <a:ea typeface="Sorts Mill Goudy"/>
              </a:rPr>
              <a:t>«</a:t>
            </a:r>
            <a:endParaRPr lang="en-US" sz="7800" noProof="1"/>
          </a:p>
        </p:txBody>
      </p:sp>
      <p:sp>
        <p:nvSpPr>
          <p:cNvPr id="8" name="body"/>
          <p:cNvSpPr txBox="1"/>
          <p:nvPr/>
        </p:nvSpPr>
        <p:spPr>
          <a:xfrm>
            <a:off x="1828800" y="3708400"/>
            <a:ext cx="8636000" cy="147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2400" noProof="1" i="1">
                <a:solidFill>
                  <a:srgbClr val="F5F0E6"/>
                </a:solidFill>
                <a:latin typeface="Sorts Mill Goudy"/>
                <a:ea typeface="Sorts Mill Goudy"/>
              </a:rPr>
              <a:t>La culture de la pomme de terre domine, avec l’avoine, le blé, l’orge, le sarrasin, les légumes, les fermes laitières et l’exploitation forestière.</a:t>
            </a:r>
            <a:endParaRPr lang="en-US" sz="2400" noProof="1"/>
          </a:p>
        </p:txBody>
      </p:sp>
      <p:sp>
        <p:nvSpPr>
          <p:cNvPr id="9" name="footer-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660400" y="6477000"/>
            <a:ext cx="108712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F5F0E6">
                <a:alpha val="41961"/>
              </a:srgbClr>
            </a:solidFill>
          </a:ln>
        </p:spPr>
      </p:sp>
      <p:sp>
        <p:nvSpPr>
          <p:cNvPr id="10" name="source"/>
          <p:cNvSpPr txBox="1"/>
          <p:nvPr/>
        </p:nvSpPr>
        <p:spPr>
          <a:xfrm>
            <a:off x="660400" y="6578600"/>
            <a:ext cx="914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F5F0E6">
                    <a:alpha val="80000"/>
                  </a:srgbClr>
                </a:solidFill>
                <a:latin typeface="Quattrocento Sans"/>
                <a:ea typeface="Quattrocento Sans"/>
              </a:rPr>
              <a:t>Source : </a:t>
            </a:r>
            <a:r>
              <a:rPr lang="en-US" sz="800" noProof="1" u="sng">
                <a:solidFill>
                  <a:srgbClr val="0563C1"/>
                </a:solidFill>
                <a:latin typeface="Quattrocento Sans"/>
                <a:ea typeface="Quattrocento Sans"/>
                <a:hlinkClick r:id="rId4"/>
              </a:rPr>
              <a:t>Diocèse d’Edmundston</a:t>
            </a:r>
            <a:r>
              <a:rPr lang="en-US" sz="800" noProof="1">
                <a:solidFill>
                  <a:srgbClr val="F5F0E6">
                    <a:alpha val="80000"/>
                  </a:srgbClr>
                </a:solidFill>
                <a:latin typeface="Quattrocento Sans"/>
                <a:ea typeface="Quattrocento Sans"/>
              </a:rPr>
              <a:t> — page historique, consultée le 7 août 2026 · Photos : Google, Archives R. H. S.-J. et contributions</a:t>
            </a:r>
            <a:endParaRPr lang="en-US" sz="800" noProof="1"/>
          </a:p>
        </p:txBody>
      </p:sp>
      <p:sp>
        <p:nvSpPr>
          <p:cNvPr id="11" name="page-num"/>
          <p:cNvSpPr txBox="1"/>
          <p:nvPr/>
        </p:nvSpPr>
        <p:spPr>
          <a:xfrm>
            <a:off x="10414000" y="6578600"/>
            <a:ext cx="11176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 b="1">
                <a:solidFill>
                  <a:srgbClr val="F5F0E6">
                    <a:alpha val="80000"/>
                  </a:srgbClr>
                </a:solidFill>
                <a:latin typeface="Quattrocento Sans"/>
                <a:ea typeface="Quattrocento Sans"/>
              </a:rPr>
              <a:t>05</a:t>
            </a:r>
            <a:endParaRPr lang="en-US" sz="9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in-image"/>
          <p:cNvPicPr/>
          <p:nvPr/>
        </p:nvPicPr>
        <p:blipFill>
          <a:blip r:embed="rId2"/>
          <a:srcRect l="18222" r="18222"/>
          <a:stretch>
            <a:fillRect/>
          </a:stretch>
        </p:blipFill>
        <p:spPr>
          <a:xfrm>
            <a:off x="0" y="0"/>
            <a:ext cx="5283200" cy="6858000"/>
          </a:xfrm>
          <a:prstGeom prst="rect">
            <a:avLst/>
          </a:prstGeom>
          <a:ln>
            <a:noFill/>
          </a:ln>
        </p:spPr>
      </p:pic>
      <p:sp>
        <p:nvSpPr>
          <p:cNvPr id="3" name="image-shade"/>
          <p:cNvSpPr/>
          <p:nvPr/>
        </p:nvSpPr>
        <p:spPr>
          <a:xfrm>
            <a:off x="0" y="0"/>
            <a:ext cx="5283200" cy="6858000"/>
          </a:xfrm>
          <a:prstGeom prst="rect">
            <a:avLst/>
          </a:prstGeom>
          <a:solidFill>
            <a:srgbClr val="17110D">
              <a:alpha val="13333"/>
            </a:srgbClr>
          </a:solidFill>
          <a:ln>
            <a:noFill/>
          </a:ln>
        </p:spPr>
      </p:sp>
      <p:sp>
        <p:nvSpPr>
          <p:cNvPr id="4" name="accent-edge"/>
          <p:cNvSpPr/>
          <p:nvPr/>
        </p:nvSpPr>
        <p:spPr>
          <a:xfrm>
            <a:off x="5283200" y="0"/>
            <a:ext cx="254000" cy="6858000"/>
          </a:xfrm>
          <a:prstGeom prst="rect">
            <a:avLst/>
          </a:prstGeom>
          <a:solidFill>
            <a:srgbClr val="7A2E2E"/>
          </a:solidFill>
          <a:ln>
            <a:noFill/>
          </a:ln>
        </p:spPr>
      </p:sp>
      <p:sp>
        <p:nvSpPr>
          <p:cNvPr id="5" name="year"/>
          <p:cNvSpPr txBox="1"/>
          <p:nvPr/>
        </p:nvSpPr>
        <p:spPr>
          <a:xfrm>
            <a:off x="6045200" y="685800"/>
            <a:ext cx="54864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5400" noProof="1" b="1">
                <a:solidFill>
                  <a:srgbClr val="7A2E2E"/>
                </a:solidFill>
                <a:latin typeface="Sorts Mill Goudy"/>
                <a:ea typeface="Sorts Mill Goudy"/>
              </a:rPr>
              <a:t>1939</a:t>
            </a:r>
            <a:endParaRPr lang="en-US" sz="5400" noProof="1"/>
          </a:p>
        </p:txBody>
      </p:sp>
      <p:sp>
        <p:nvSpPr>
          <p:cNvPr id="6" name="title-rul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6045200" y="1574800"/>
            <a:ext cx="13716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38100">
            <a:solidFill>
              <a:srgbClr val="B08A3C"/>
            </a:solidFill>
          </a:ln>
        </p:spPr>
      </p:sp>
      <p:sp>
        <p:nvSpPr>
          <p:cNvPr id="7" name="title"/>
          <p:cNvSpPr txBox="1"/>
          <p:nvPr/>
        </p:nvSpPr>
        <p:spPr>
          <a:xfrm>
            <a:off x="6045200" y="1854200"/>
            <a:ext cx="54864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08000"/>
              </a:lnSpc>
            </a:pPr>
            <a:r>
              <a:rPr lang="en-US" sz="3100" noProof="1" b="1">
                <a:solidFill>
                  <a:srgbClr val="2B2118"/>
                </a:solidFill>
                <a:latin typeface="Sorts Mill Goudy"/>
                <a:ea typeface="Sorts Mill Goudy"/>
              </a:rPr>
              <a:t>La chapelle Saint-Éloi</a:t>
            </a:r>
            <a:endParaRPr lang="en-US" sz="3100" noProof="1"/>
          </a:p>
        </p:txBody>
      </p:sp>
      <p:sp>
        <p:nvSpPr>
          <p:cNvPr id="8" name="body"/>
          <p:cNvSpPr txBox="1"/>
          <p:nvPr/>
        </p:nvSpPr>
        <p:spPr>
          <a:xfrm>
            <a:off x="6045200" y="3022600"/>
            <a:ext cx="5486400" cy="208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2000"/>
              </a:lnSpc>
            </a:pPr>
            <a:r>
              <a:rPr lang="en-US" sz="1700" noProof="1">
                <a:solidFill>
                  <a:srgbClr val="2B2118"/>
                </a:solidFill>
                <a:latin typeface="Quattrocento Sans"/>
                <a:ea typeface="Quattrocento Sans"/>
              </a:rPr>
              <a:t>Au rang Comeau, une petite chapelle est construite en 1939. Elle porte le nom de Saint-Éloi en l’honneur du Rév. Éloi Martin.</a:t>
            </a:r>
            <a:endParaRPr lang="en-US" sz="1700" noProof="1"/>
          </a:p>
        </p:txBody>
      </p:sp>
      <p:sp>
        <p:nvSpPr>
          <p:cNvPr id="9" name="icon"/>
          <p:cNvSpPr/>
          <p:nvPr>
            <p:extLst>
              <p:ext uri="{F5677B7D-0D2A-4D9B-9A5C-6D8D7D0E5A5D}">
                <pptd:icon encoding="base64url">eyJpY29uTmFtZSI6ImZhczpjaHVyY2gifQ</pptd:icon>
              </p:ext>
            </p:extLst>
          </p:nvPr>
        </p:nvSpPr>
        <p:spPr>
          <a:xfrm>
            <a:off x="6045200" y="5435600"/>
            <a:ext cx="482600" cy="482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80" y="-8"/>
                </a:moveTo>
                <a:cubicBezTo>
                  <a:pt x="280" y="-21"/>
                  <a:pt x="269" y="-32"/>
                  <a:pt x="256" y="-32"/>
                </a:cubicBezTo>
                <a:cubicBezTo>
                  <a:pt x="243" y="-32"/>
                  <a:pt x="232" y="-21"/>
                  <a:pt x="232" y="-8"/>
                </a:cubicBezTo>
                <a:lnTo>
                  <a:pt x="232" y="16"/>
                </a:lnTo>
                <a:lnTo>
                  <a:pt x="200" y="16"/>
                </a:lnTo>
                <a:cubicBezTo>
                  <a:pt x="187" y="16"/>
                  <a:pt x="176" y="27"/>
                  <a:pt x="176" y="40"/>
                </a:cubicBezTo>
                <a:cubicBezTo>
                  <a:pt x="176" y="53"/>
                  <a:pt x="187" y="64"/>
                  <a:pt x="200" y="64"/>
                </a:cubicBezTo>
                <a:lnTo>
                  <a:pt x="232" y="64"/>
                </a:lnTo>
                <a:lnTo>
                  <a:pt x="232" y="112"/>
                </a:lnTo>
                <a:lnTo>
                  <a:pt x="133" y="178"/>
                </a:lnTo>
                <a:cubicBezTo>
                  <a:pt x="120" y="187"/>
                  <a:pt x="112" y="202"/>
                  <a:pt x="112" y="218"/>
                </a:cubicBezTo>
                <a:lnTo>
                  <a:pt x="112" y="256"/>
                </a:lnTo>
                <a:lnTo>
                  <a:pt x="32" y="302"/>
                </a:lnTo>
                <a:cubicBezTo>
                  <a:pt x="12" y="313"/>
                  <a:pt x="0" y="334"/>
                  <a:pt x="0" y="357"/>
                </a:cubicBezTo>
                <a:lnTo>
                  <a:pt x="0" y="448"/>
                </a:lnTo>
                <a:cubicBezTo>
                  <a:pt x="0" y="483"/>
                  <a:pt x="29" y="512"/>
                  <a:pt x="64" y="512"/>
                </a:cubicBezTo>
                <a:cubicBezTo>
                  <a:pt x="139" y="512"/>
                  <a:pt x="149" y="512"/>
                  <a:pt x="384" y="512"/>
                </a:cubicBezTo>
                <a:lnTo>
                  <a:pt x="448" y="512"/>
                </a:lnTo>
                <a:cubicBezTo>
                  <a:pt x="483" y="512"/>
                  <a:pt x="512" y="483"/>
                  <a:pt x="512" y="448"/>
                </a:cubicBezTo>
                <a:lnTo>
                  <a:pt x="512" y="357"/>
                </a:lnTo>
                <a:cubicBezTo>
                  <a:pt x="512" y="334"/>
                  <a:pt x="500" y="313"/>
                  <a:pt x="480" y="302"/>
                </a:cubicBezTo>
                <a:lnTo>
                  <a:pt x="400" y="256"/>
                </a:lnTo>
                <a:lnTo>
                  <a:pt x="400" y="218"/>
                </a:lnTo>
                <a:cubicBezTo>
                  <a:pt x="400" y="202"/>
                  <a:pt x="392" y="187"/>
                  <a:pt x="379" y="178"/>
                </a:cubicBezTo>
                <a:lnTo>
                  <a:pt x="280" y="112"/>
                </a:lnTo>
                <a:lnTo>
                  <a:pt x="280" y="64"/>
                </a:lnTo>
                <a:lnTo>
                  <a:pt x="312" y="64"/>
                </a:lnTo>
                <a:cubicBezTo>
                  <a:pt x="325" y="64"/>
                  <a:pt x="336" y="53"/>
                  <a:pt x="336" y="40"/>
                </a:cubicBezTo>
                <a:cubicBezTo>
                  <a:pt x="336" y="27"/>
                  <a:pt x="325" y="16"/>
                  <a:pt x="312" y="16"/>
                </a:cubicBezTo>
                <a:lnTo>
                  <a:pt x="280" y="16"/>
                </a:lnTo>
                <a:lnTo>
                  <a:pt x="280" y="-8"/>
                </a:lnTo>
                <a:close/>
                <a:moveTo>
                  <a:pt x="256" y="320"/>
                </a:moveTo>
                <a:cubicBezTo>
                  <a:pt x="291" y="320"/>
                  <a:pt x="320" y="349"/>
                  <a:pt x="320" y="384"/>
                </a:cubicBezTo>
                <a:lnTo>
                  <a:pt x="320" y="464"/>
                </a:lnTo>
                <a:lnTo>
                  <a:pt x="192" y="464"/>
                </a:lnTo>
                <a:lnTo>
                  <a:pt x="192" y="384"/>
                </a:lnTo>
                <a:cubicBezTo>
                  <a:pt x="192" y="349"/>
                  <a:pt x="221" y="320"/>
                  <a:pt x="256" y="320"/>
                </a:cubicBezTo>
                <a:close/>
              </a:path>
            </a:pathLst>
          </a:custGeom>
          <a:solidFill>
            <a:srgbClr val="B08A3C"/>
          </a:solidFill>
          <a:ln>
            <a:noFill/>
          </a:ln>
        </p:spPr>
      </p:sp>
      <p:sp>
        <p:nvSpPr>
          <p:cNvPr id="10" name="footer-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660400" y="6477000"/>
            <a:ext cx="108712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7A2E2E">
                <a:alpha val="33333"/>
              </a:srgbClr>
            </a:solidFill>
          </a:ln>
        </p:spPr>
      </p:sp>
      <p:sp>
        <p:nvSpPr>
          <p:cNvPr id="11" name="source"/>
          <p:cNvSpPr txBox="1"/>
          <p:nvPr/>
        </p:nvSpPr>
        <p:spPr>
          <a:xfrm>
            <a:off x="660400" y="6578600"/>
            <a:ext cx="914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6F6256"/>
                </a:solidFill>
                <a:latin typeface="Quattrocento Sans"/>
                <a:ea typeface="Quattrocento Sans"/>
              </a:rPr>
              <a:t>Source : </a:t>
            </a:r>
            <a:r>
              <a:rPr lang="en-US" sz="800" noProof="1" u="sng">
                <a:solidFill>
                  <a:srgbClr val="0563C1"/>
                </a:solidFill>
                <a:latin typeface="Quattrocento Sans"/>
                <a:ea typeface="Quattrocento Sans"/>
                <a:hlinkClick r:id="rId3"/>
              </a:rPr>
              <a:t>Diocèse d’Edmundston</a:t>
            </a:r>
            <a:r>
              <a:rPr lang="en-US" sz="800" noProof="1">
                <a:solidFill>
                  <a:srgbClr val="6F6256"/>
                </a:solidFill>
                <a:latin typeface="Quattrocento Sans"/>
                <a:ea typeface="Quattrocento Sans"/>
              </a:rPr>
              <a:t> — page historique, consultée le 7 août 2026 · Photos : Google, Archives R. H. S.-J. et contributions</a:t>
            </a:r>
            <a:endParaRPr lang="en-US" sz="800" noProof="1"/>
          </a:p>
        </p:txBody>
      </p:sp>
      <p:sp>
        <p:nvSpPr>
          <p:cNvPr id="12" name="page-num"/>
          <p:cNvSpPr txBox="1"/>
          <p:nvPr/>
        </p:nvSpPr>
        <p:spPr>
          <a:xfrm>
            <a:off x="10414000" y="6578600"/>
            <a:ext cx="11176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 b="1">
                <a:solidFill>
                  <a:srgbClr val="6F6256"/>
                </a:solidFill>
                <a:latin typeface="Quattrocento Sans"/>
                <a:ea typeface="Quattrocento Sans"/>
              </a:rPr>
              <a:t>06</a:t>
            </a:r>
            <a:endParaRPr lang="en-US" sz="9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year"/>
          <p:cNvSpPr txBox="1"/>
          <p:nvPr/>
        </p:nvSpPr>
        <p:spPr>
          <a:xfrm>
            <a:off x="660400" y="609600"/>
            <a:ext cx="3048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noProof="1" b="1" spc="120" kern="0">
                <a:solidFill>
                  <a:srgbClr val="7A2E2E"/>
                </a:solidFill>
                <a:latin typeface="Quattrocento Sans"/>
                <a:ea typeface="Quattrocento Sans"/>
              </a:rPr>
              <a:t>Culture</a:t>
            </a:r>
            <a:endParaRPr lang="en-US" sz="2000" noProof="1"/>
          </a:p>
        </p:txBody>
      </p:sp>
      <p:sp>
        <p:nvSpPr>
          <p:cNvPr id="3" name="title"/>
          <p:cNvSpPr txBox="1"/>
          <p:nvPr/>
        </p:nvSpPr>
        <p:spPr>
          <a:xfrm>
            <a:off x="660400" y="1117600"/>
            <a:ext cx="7874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08000"/>
              </a:lnSpc>
            </a:pPr>
            <a:r>
              <a:rPr lang="en-US" sz="3400" noProof="1" b="1">
                <a:solidFill>
                  <a:srgbClr val="2B2118"/>
                </a:solidFill>
                <a:latin typeface="Sorts Mill Goudy"/>
                <a:ea typeface="Sorts Mill Goudy"/>
              </a:rPr>
              <a:t>Une communauté fière et accueillante</a:t>
            </a:r>
            <a:endParaRPr lang="en-US" sz="3400" noProof="1"/>
          </a:p>
        </p:txBody>
      </p:sp>
      <p:pic>
        <p:nvPicPr>
          <p:cNvPr id="4" name="right-image"/>
          <p:cNvPicPr/>
          <p:nvPr/>
        </p:nvPicPr>
        <p:blipFill>
          <a:blip r:embed="rId2"/>
          <a:srcRect l="37230" r="37230"/>
          <a:stretch>
            <a:fillRect/>
          </a:stretch>
        </p:blipFill>
        <p:spPr>
          <a:xfrm>
            <a:off x="8966200" y="0"/>
            <a:ext cx="3225800" cy="6858000"/>
          </a:xfrm>
          <a:prstGeom prst="rect">
            <a:avLst/>
          </a:prstGeom>
          <a:ln>
            <a:noFill/>
          </a:ln>
        </p:spPr>
      </p:pic>
      <p:sp>
        <p:nvSpPr>
          <p:cNvPr id="5" name="right-shade"/>
          <p:cNvSpPr/>
          <p:nvPr/>
        </p:nvSpPr>
        <p:spPr>
          <a:xfrm>
            <a:off x="8966200" y="0"/>
            <a:ext cx="3225800" cy="6858000"/>
          </a:xfrm>
          <a:prstGeom prst="rect">
            <a:avLst/>
          </a:prstGeom>
          <a:solidFill>
            <a:srgbClr val="17110D">
              <a:alpha val="14510"/>
            </a:srgbClr>
          </a:solidFill>
          <a:ln>
            <a:noFill/>
          </a:ln>
        </p:spPr>
      </p:sp>
      <p:sp>
        <p:nvSpPr>
          <p:cNvPr id="6" name="icon-0"/>
          <p:cNvSpPr/>
          <p:nvPr>
            <p:extLst>
              <p:ext uri="{F5677B7D-0D2A-4D9B-9A5C-6D8D7D0E5A5D}">
                <pptd:icon encoding="base64url">eyJpY29uTmFtZSI6ImZhczpsYW5ndWFnZSJ9</pptd:icon>
              </p:ext>
            </p:extLst>
          </p:nvPr>
        </p:nvSpPr>
        <p:spPr>
          <a:xfrm>
            <a:off x="660400" y="2336800"/>
            <a:ext cx="431800" cy="431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160" y="0"/>
                </a:moveTo>
                <a:cubicBezTo>
                  <a:pt x="178" y="0"/>
                  <a:pt x="192" y="14"/>
                  <a:pt x="192" y="32"/>
                </a:cubicBezTo>
                <a:lnTo>
                  <a:pt x="192" y="64"/>
                </a:lnTo>
                <a:lnTo>
                  <a:pt x="320" y="64"/>
                </a:lnTo>
                <a:cubicBezTo>
                  <a:pt x="338" y="64"/>
                  <a:pt x="352" y="78"/>
                  <a:pt x="352" y="96"/>
                </a:cubicBezTo>
                <a:cubicBezTo>
                  <a:pt x="352" y="114"/>
                  <a:pt x="338" y="128"/>
                  <a:pt x="320" y="128"/>
                </a:cubicBezTo>
                <a:lnTo>
                  <a:pt x="310" y="128"/>
                </a:lnTo>
                <a:lnTo>
                  <a:pt x="302" y="151"/>
                </a:lnTo>
                <a:cubicBezTo>
                  <a:pt x="286" y="196"/>
                  <a:pt x="261" y="238"/>
                  <a:pt x="230" y="273"/>
                </a:cubicBezTo>
                <a:cubicBezTo>
                  <a:pt x="244" y="282"/>
                  <a:pt x="259" y="290"/>
                  <a:pt x="274" y="297"/>
                </a:cubicBezTo>
                <a:lnTo>
                  <a:pt x="325" y="319"/>
                </a:lnTo>
                <a:lnTo>
                  <a:pt x="387" y="179"/>
                </a:lnTo>
                <a:cubicBezTo>
                  <a:pt x="392" y="167"/>
                  <a:pt x="403" y="160"/>
                  <a:pt x="416" y="160"/>
                </a:cubicBezTo>
                <a:cubicBezTo>
                  <a:pt x="429" y="160"/>
                  <a:pt x="440" y="167"/>
                  <a:pt x="445" y="179"/>
                </a:cubicBezTo>
                <a:lnTo>
                  <a:pt x="573" y="467"/>
                </a:lnTo>
                <a:cubicBezTo>
                  <a:pt x="580" y="483"/>
                  <a:pt x="573" y="502"/>
                  <a:pt x="557" y="509"/>
                </a:cubicBezTo>
                <a:cubicBezTo>
                  <a:pt x="541" y="516"/>
                  <a:pt x="522" y="509"/>
                  <a:pt x="515" y="493"/>
                </a:cubicBezTo>
                <a:lnTo>
                  <a:pt x="495" y="448"/>
                </a:lnTo>
                <a:lnTo>
                  <a:pt x="337" y="448"/>
                </a:lnTo>
                <a:lnTo>
                  <a:pt x="317" y="493"/>
                </a:lnTo>
                <a:cubicBezTo>
                  <a:pt x="310" y="509"/>
                  <a:pt x="291" y="516"/>
                  <a:pt x="275" y="509"/>
                </a:cubicBezTo>
                <a:cubicBezTo>
                  <a:pt x="259" y="502"/>
                  <a:pt x="252" y="483"/>
                  <a:pt x="259" y="467"/>
                </a:cubicBezTo>
                <a:lnTo>
                  <a:pt x="299" y="378"/>
                </a:lnTo>
                <a:lnTo>
                  <a:pt x="248" y="355"/>
                </a:lnTo>
                <a:cubicBezTo>
                  <a:pt x="225" y="345"/>
                  <a:pt x="203" y="333"/>
                  <a:pt x="182" y="319"/>
                </a:cubicBezTo>
                <a:cubicBezTo>
                  <a:pt x="161" y="336"/>
                  <a:pt x="138" y="351"/>
                  <a:pt x="113" y="363"/>
                </a:cubicBezTo>
                <a:lnTo>
                  <a:pt x="78" y="381"/>
                </a:lnTo>
                <a:cubicBezTo>
                  <a:pt x="63" y="389"/>
                  <a:pt x="43" y="382"/>
                  <a:pt x="35" y="366"/>
                </a:cubicBezTo>
                <a:cubicBezTo>
                  <a:pt x="28" y="351"/>
                  <a:pt x="34" y="331"/>
                  <a:pt x="50" y="323"/>
                </a:cubicBezTo>
                <a:lnTo>
                  <a:pt x="84" y="306"/>
                </a:lnTo>
                <a:cubicBezTo>
                  <a:pt x="101" y="298"/>
                  <a:pt x="116" y="288"/>
                  <a:pt x="131" y="278"/>
                </a:cubicBezTo>
                <a:cubicBezTo>
                  <a:pt x="117" y="265"/>
                  <a:pt x="104" y="251"/>
                  <a:pt x="92" y="237"/>
                </a:cubicBezTo>
                <a:lnTo>
                  <a:pt x="82" y="225"/>
                </a:lnTo>
                <a:cubicBezTo>
                  <a:pt x="70" y="211"/>
                  <a:pt x="72" y="191"/>
                  <a:pt x="86" y="180"/>
                </a:cubicBezTo>
                <a:cubicBezTo>
                  <a:pt x="99" y="168"/>
                  <a:pt x="119" y="170"/>
                  <a:pt x="131" y="184"/>
                </a:cubicBezTo>
                <a:lnTo>
                  <a:pt x="141" y="196"/>
                </a:lnTo>
                <a:cubicBezTo>
                  <a:pt x="152" y="210"/>
                  <a:pt x="165" y="223"/>
                  <a:pt x="178" y="235"/>
                </a:cubicBezTo>
                <a:cubicBezTo>
                  <a:pt x="206" y="204"/>
                  <a:pt x="228" y="168"/>
                  <a:pt x="242" y="129"/>
                </a:cubicBezTo>
                <a:lnTo>
                  <a:pt x="242" y="128"/>
                </a:lnTo>
                <a:lnTo>
                  <a:pt x="32" y="128"/>
                </a:lnTo>
                <a:cubicBezTo>
                  <a:pt x="14" y="128"/>
                  <a:pt x="0" y="114"/>
                  <a:pt x="0" y="96"/>
                </a:cubicBezTo>
                <a:cubicBezTo>
                  <a:pt x="0" y="78"/>
                  <a:pt x="14" y="64"/>
                  <a:pt x="32" y="64"/>
                </a:cubicBezTo>
                <a:lnTo>
                  <a:pt x="128" y="64"/>
                </a:lnTo>
                <a:lnTo>
                  <a:pt x="128" y="32"/>
                </a:lnTo>
                <a:cubicBezTo>
                  <a:pt x="128" y="14"/>
                  <a:pt x="142" y="0"/>
                  <a:pt x="160" y="0"/>
                </a:cubicBezTo>
                <a:close/>
                <a:moveTo>
                  <a:pt x="416" y="271"/>
                </a:moveTo>
                <a:lnTo>
                  <a:pt x="366" y="384"/>
                </a:lnTo>
                <a:lnTo>
                  <a:pt x="466" y="384"/>
                </a:lnTo>
                <a:lnTo>
                  <a:pt x="416" y="271"/>
                </a:lnTo>
                <a:close/>
              </a:path>
            </a:pathLst>
          </a:custGeom>
          <a:solidFill>
            <a:srgbClr val="B08A3C"/>
          </a:solidFill>
          <a:ln>
            <a:noFill/>
          </a:ln>
        </p:spPr>
      </p:sp>
      <p:sp>
        <p:nvSpPr>
          <p:cNvPr id="7" name="head-0"/>
          <p:cNvSpPr txBox="1"/>
          <p:nvPr/>
        </p:nvSpPr>
        <p:spPr>
          <a:xfrm>
            <a:off x="660400" y="3022600"/>
            <a:ext cx="2413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100" noProof="1" b="1">
                <a:solidFill>
                  <a:srgbClr val="7A2E2E"/>
                </a:solidFill>
                <a:latin typeface="Sorts Mill Goudy"/>
                <a:ea typeface="Sorts Mill Goudy"/>
              </a:rPr>
              <a:t>Langue</a:t>
            </a:r>
            <a:endParaRPr lang="en-US" sz="2100" noProof="1"/>
          </a:p>
        </p:txBody>
      </p:sp>
      <p:sp>
        <p:nvSpPr>
          <p:cNvPr id="8" name="body-0"/>
          <p:cNvSpPr txBox="1"/>
          <p:nvPr/>
        </p:nvSpPr>
        <p:spPr>
          <a:xfrm>
            <a:off x="660400" y="3606800"/>
            <a:ext cx="24130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400" noProof="1">
                <a:solidFill>
                  <a:srgbClr val="2B2118"/>
                </a:solidFill>
                <a:latin typeface="Quattrocento Sans"/>
                <a:ea typeface="Quattrocento Sans"/>
              </a:rPr>
              <a:t>Les paroissiens sont en très grande majorité francophones.</a:t>
            </a:r>
            <a:endParaRPr lang="en-US" sz="1400" noProof="1"/>
          </a:p>
        </p:txBody>
      </p:sp>
      <p:sp>
        <p:nvSpPr>
          <p:cNvPr id="9" name="pillar-rule-1"/>
          <p:cNvSpPr/>
          <p:nvPr>
            <p:extLst>
              <p:ext uri="{F5677B7D-0D2A-4D9B-9A5C-6D8D7D0E5A5D}">
                <pptd:line encoding="base64url">eyJ2aWV3Qm94IjpbMSwxXSwicG9pbnRzIjoiMCwwIDAsMSIsImN1cnZlIjoic2hhcnAifQ</pptd:line>
              </p:ext>
            </p:extLst>
          </p:nvPr>
        </p:nvSpPr>
        <p:spPr>
          <a:xfrm>
            <a:off x="3124200" y="2413000"/>
            <a:ext cx="12700" cy="30480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0" y="1"/>
                </a:lnTo>
              </a:path>
            </a:pathLst>
          </a:custGeom>
          <a:noFill/>
          <a:ln w="12700">
            <a:solidFill>
              <a:srgbClr val="7A2E2E">
                <a:alpha val="26667"/>
              </a:srgbClr>
            </a:solidFill>
          </a:ln>
        </p:spPr>
      </p:sp>
      <p:sp>
        <p:nvSpPr>
          <p:cNvPr id="10" name="icon-1"/>
          <p:cNvSpPr/>
          <p:nvPr>
            <p:extLst>
              <p:ext uri="{F5677B7D-0D2A-4D9B-9A5C-6D8D7D0E5A5D}">
                <pptd:icon encoding="base64url">eyJpY29uTmFtZSI6ImZhczptdXNpYyJ9</pptd:icon>
              </p:ext>
            </p:extLst>
          </p:nvPr>
        </p:nvSpPr>
        <p:spPr>
          <a:xfrm>
            <a:off x="3479800" y="2336800"/>
            <a:ext cx="431800" cy="431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68" y="7"/>
                </a:moveTo>
                <a:cubicBezTo>
                  <a:pt x="476" y="13"/>
                  <a:pt x="480" y="22"/>
                  <a:pt x="480" y="32"/>
                </a:cubicBezTo>
                <a:lnTo>
                  <a:pt x="480" y="336"/>
                </a:lnTo>
                <a:cubicBezTo>
                  <a:pt x="480" y="380"/>
                  <a:pt x="437" y="416"/>
                  <a:pt x="384" y="416"/>
                </a:cubicBezTo>
                <a:cubicBezTo>
                  <a:pt x="331" y="416"/>
                  <a:pt x="288" y="380"/>
                  <a:pt x="288" y="336"/>
                </a:cubicBezTo>
                <a:cubicBezTo>
                  <a:pt x="288" y="292"/>
                  <a:pt x="331" y="256"/>
                  <a:pt x="384" y="256"/>
                </a:cubicBezTo>
                <a:cubicBezTo>
                  <a:pt x="395" y="256"/>
                  <a:pt x="406" y="258"/>
                  <a:pt x="416" y="261"/>
                </a:cubicBezTo>
                <a:lnTo>
                  <a:pt x="416" y="144"/>
                </a:lnTo>
                <a:lnTo>
                  <a:pt x="192" y="194"/>
                </a:lnTo>
                <a:lnTo>
                  <a:pt x="192" y="400"/>
                </a:lnTo>
                <a:cubicBezTo>
                  <a:pt x="192" y="444"/>
                  <a:pt x="149" y="480"/>
                  <a:pt x="96" y="480"/>
                </a:cubicBezTo>
                <a:cubicBezTo>
                  <a:pt x="43" y="480"/>
                  <a:pt x="0" y="444"/>
                  <a:pt x="0" y="400"/>
                </a:cubicBezTo>
                <a:cubicBezTo>
                  <a:pt x="0" y="356"/>
                  <a:pt x="43" y="320"/>
                  <a:pt x="96" y="320"/>
                </a:cubicBezTo>
                <a:cubicBezTo>
                  <a:pt x="107" y="320"/>
                  <a:pt x="118" y="322"/>
                  <a:pt x="128" y="325"/>
                </a:cubicBezTo>
                <a:lnTo>
                  <a:pt x="128" y="96"/>
                </a:lnTo>
                <a:cubicBezTo>
                  <a:pt x="128" y="81"/>
                  <a:pt x="138" y="68"/>
                  <a:pt x="153" y="65"/>
                </a:cubicBezTo>
                <a:lnTo>
                  <a:pt x="441" y="1"/>
                </a:lnTo>
                <a:cubicBezTo>
                  <a:pt x="451" y="-1"/>
                  <a:pt x="461" y="1"/>
                  <a:pt x="468" y="7"/>
                </a:cubicBezTo>
                <a:close/>
              </a:path>
            </a:pathLst>
          </a:custGeom>
          <a:solidFill>
            <a:srgbClr val="B08A3C"/>
          </a:solidFill>
          <a:ln>
            <a:noFill/>
          </a:ln>
        </p:spPr>
      </p:sp>
      <p:sp>
        <p:nvSpPr>
          <p:cNvPr id="11" name="head-1"/>
          <p:cNvSpPr txBox="1"/>
          <p:nvPr/>
        </p:nvSpPr>
        <p:spPr>
          <a:xfrm>
            <a:off x="3479800" y="3022600"/>
            <a:ext cx="2413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100" noProof="1" b="1">
                <a:solidFill>
                  <a:srgbClr val="7A2E2E"/>
                </a:solidFill>
                <a:latin typeface="Sorts Mill Goudy"/>
                <a:ea typeface="Sorts Mill Goudy"/>
              </a:rPr>
              <a:t>Musique</a:t>
            </a:r>
            <a:endParaRPr lang="en-US" sz="2100" noProof="1"/>
          </a:p>
        </p:txBody>
      </p:sp>
      <p:sp>
        <p:nvSpPr>
          <p:cNvPr id="12" name="body-1"/>
          <p:cNvSpPr txBox="1"/>
          <p:nvPr/>
        </p:nvSpPr>
        <p:spPr>
          <a:xfrm>
            <a:off x="3479800" y="3606800"/>
            <a:ext cx="24130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400" noProof="1">
                <a:solidFill>
                  <a:srgbClr val="2B2118"/>
                </a:solidFill>
                <a:latin typeface="Quattrocento Sans"/>
                <a:ea typeface="Quattrocento Sans"/>
              </a:rPr>
              <a:t>Saint-André est renommée pour ses nombreux chanteurs de talent.</a:t>
            </a:r>
            <a:endParaRPr lang="en-US" sz="1400" noProof="1"/>
          </a:p>
        </p:txBody>
      </p:sp>
      <p:sp>
        <p:nvSpPr>
          <p:cNvPr id="13" name="pillar-rule-2"/>
          <p:cNvSpPr/>
          <p:nvPr>
            <p:extLst>
              <p:ext uri="{F5677B7D-0D2A-4D9B-9A5C-6D8D7D0E5A5D}">
                <pptd:line encoding="base64url">eyJ2aWV3Qm94IjpbMSwxXSwicG9pbnRzIjoiMCwwIDAsMSIsImN1cnZlIjoic2hhcnAifQ</pptd:line>
              </p:ext>
            </p:extLst>
          </p:nvPr>
        </p:nvSpPr>
        <p:spPr>
          <a:xfrm>
            <a:off x="5943600" y="2413000"/>
            <a:ext cx="12700" cy="30480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0" y="1"/>
                </a:lnTo>
              </a:path>
            </a:pathLst>
          </a:custGeom>
          <a:noFill/>
          <a:ln w="12700">
            <a:solidFill>
              <a:srgbClr val="7A2E2E">
                <a:alpha val="26667"/>
              </a:srgbClr>
            </a:solidFill>
          </a:ln>
        </p:spPr>
      </p:sp>
      <p:sp>
        <p:nvSpPr>
          <p:cNvPr id="14" name="icon-2"/>
          <p:cNvSpPr/>
          <p:nvPr>
            <p:extLst>
              <p:ext uri="{F5677B7D-0D2A-4D9B-9A5C-6D8D7D0E5A5D}">
                <pptd:icon encoding="base64url">eyJpY29uTmFtZSI6ImZhczpoYW5kc2hha2UifQ</pptd:icon>
              </p:ext>
            </p:extLst>
          </p:nvPr>
        </p:nvSpPr>
        <p:spPr>
          <a:xfrm>
            <a:off x="6299200" y="2336800"/>
            <a:ext cx="431800" cy="431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69" y="85"/>
                </a:moveTo>
                <a:lnTo>
                  <a:pt x="152" y="215"/>
                </a:lnTo>
                <a:cubicBezTo>
                  <a:pt x="148" y="220"/>
                  <a:pt x="148" y="228"/>
                  <a:pt x="153" y="233"/>
                </a:cubicBezTo>
                <a:cubicBezTo>
                  <a:pt x="183" y="263"/>
                  <a:pt x="233" y="263"/>
                  <a:pt x="263" y="233"/>
                </a:cubicBezTo>
                <a:lnTo>
                  <a:pt x="295" y="201"/>
                </a:lnTo>
                <a:cubicBezTo>
                  <a:pt x="299" y="197"/>
                  <a:pt x="305" y="194"/>
                  <a:pt x="310" y="194"/>
                </a:cubicBezTo>
                <a:cubicBezTo>
                  <a:pt x="317" y="193"/>
                  <a:pt x="324" y="196"/>
                  <a:pt x="329" y="201"/>
                </a:cubicBezTo>
                <a:lnTo>
                  <a:pt x="506" y="376"/>
                </a:lnTo>
                <a:lnTo>
                  <a:pt x="576" y="320"/>
                </a:lnTo>
                <a:lnTo>
                  <a:pt x="576" y="32"/>
                </a:lnTo>
                <a:lnTo>
                  <a:pt x="464" y="96"/>
                </a:lnTo>
                <a:lnTo>
                  <a:pt x="440" y="80"/>
                </a:lnTo>
                <a:cubicBezTo>
                  <a:pt x="424" y="70"/>
                  <a:pt x="406" y="64"/>
                  <a:pt x="387" y="64"/>
                </a:cubicBezTo>
                <a:lnTo>
                  <a:pt x="317" y="64"/>
                </a:lnTo>
                <a:cubicBezTo>
                  <a:pt x="315" y="64"/>
                  <a:pt x="314" y="64"/>
                  <a:pt x="313" y="64"/>
                </a:cubicBezTo>
                <a:cubicBezTo>
                  <a:pt x="296" y="65"/>
                  <a:pt x="280" y="73"/>
                  <a:pt x="269" y="85"/>
                </a:cubicBezTo>
                <a:close/>
                <a:moveTo>
                  <a:pt x="117" y="183"/>
                </a:moveTo>
                <a:lnTo>
                  <a:pt x="223" y="64"/>
                </a:lnTo>
                <a:lnTo>
                  <a:pt x="184" y="64"/>
                </a:lnTo>
                <a:cubicBezTo>
                  <a:pt x="158" y="64"/>
                  <a:pt x="134" y="74"/>
                  <a:pt x="116" y="92"/>
                </a:cubicBezTo>
                <a:lnTo>
                  <a:pt x="112" y="96"/>
                </a:lnTo>
                <a:lnTo>
                  <a:pt x="0" y="32"/>
                </a:lnTo>
                <a:lnTo>
                  <a:pt x="0" y="320"/>
                </a:lnTo>
                <a:lnTo>
                  <a:pt x="156" y="450"/>
                </a:lnTo>
                <a:cubicBezTo>
                  <a:pt x="179" y="470"/>
                  <a:pt x="208" y="480"/>
                  <a:pt x="238" y="480"/>
                </a:cubicBezTo>
                <a:lnTo>
                  <a:pt x="254" y="480"/>
                </a:lnTo>
                <a:lnTo>
                  <a:pt x="247" y="473"/>
                </a:lnTo>
                <a:cubicBezTo>
                  <a:pt x="238" y="464"/>
                  <a:pt x="238" y="448"/>
                  <a:pt x="247" y="439"/>
                </a:cubicBezTo>
                <a:cubicBezTo>
                  <a:pt x="256" y="430"/>
                  <a:pt x="272" y="430"/>
                  <a:pt x="281" y="439"/>
                </a:cubicBezTo>
                <a:lnTo>
                  <a:pt x="322" y="480"/>
                </a:lnTo>
                <a:lnTo>
                  <a:pt x="331" y="480"/>
                </a:lnTo>
                <a:cubicBezTo>
                  <a:pt x="350" y="480"/>
                  <a:pt x="369" y="476"/>
                  <a:pt x="386" y="468"/>
                </a:cubicBezTo>
                <a:lnTo>
                  <a:pt x="359" y="441"/>
                </a:lnTo>
                <a:cubicBezTo>
                  <a:pt x="350" y="432"/>
                  <a:pt x="350" y="416"/>
                  <a:pt x="359" y="407"/>
                </a:cubicBezTo>
                <a:cubicBezTo>
                  <a:pt x="368" y="398"/>
                  <a:pt x="384" y="398"/>
                  <a:pt x="393" y="407"/>
                </a:cubicBezTo>
                <a:lnTo>
                  <a:pt x="425" y="439"/>
                </a:lnTo>
                <a:lnTo>
                  <a:pt x="442" y="422"/>
                </a:lnTo>
                <a:cubicBezTo>
                  <a:pt x="451" y="413"/>
                  <a:pt x="454" y="400"/>
                  <a:pt x="450" y="389"/>
                </a:cubicBezTo>
                <a:lnTo>
                  <a:pt x="312" y="252"/>
                </a:lnTo>
                <a:lnTo>
                  <a:pt x="297" y="267"/>
                </a:lnTo>
                <a:cubicBezTo>
                  <a:pt x="248" y="316"/>
                  <a:pt x="168" y="316"/>
                  <a:pt x="119" y="267"/>
                </a:cubicBezTo>
                <a:cubicBezTo>
                  <a:pt x="96" y="244"/>
                  <a:pt x="95" y="207"/>
                  <a:pt x="117" y="183"/>
                </a:cubicBezTo>
                <a:close/>
              </a:path>
            </a:pathLst>
          </a:custGeom>
          <a:solidFill>
            <a:srgbClr val="B08A3C"/>
          </a:solidFill>
          <a:ln>
            <a:noFill/>
          </a:ln>
        </p:spPr>
      </p:sp>
      <p:sp>
        <p:nvSpPr>
          <p:cNvPr id="15" name="head-2"/>
          <p:cNvSpPr txBox="1"/>
          <p:nvPr/>
        </p:nvSpPr>
        <p:spPr>
          <a:xfrm>
            <a:off x="6299200" y="3022600"/>
            <a:ext cx="2260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100" noProof="1" b="1">
                <a:solidFill>
                  <a:srgbClr val="7A2E2E"/>
                </a:solidFill>
                <a:latin typeface="Sorts Mill Goudy"/>
                <a:ea typeface="Sorts Mill Goudy"/>
              </a:rPr>
              <a:t>Coopération</a:t>
            </a:r>
            <a:endParaRPr lang="en-US" sz="2100" noProof="1"/>
          </a:p>
        </p:txBody>
      </p:sp>
      <p:sp>
        <p:nvSpPr>
          <p:cNvPr id="16" name="body-2"/>
          <p:cNvSpPr txBox="1"/>
          <p:nvPr/>
        </p:nvSpPr>
        <p:spPr>
          <a:xfrm>
            <a:off x="6299200" y="3606800"/>
            <a:ext cx="22606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400" noProof="1">
                <a:solidFill>
                  <a:srgbClr val="2B2118"/>
                </a:solidFill>
                <a:latin typeface="Quattrocento Sans"/>
                <a:ea typeface="Quattrocento Sans"/>
              </a:rPr>
              <a:t>La Caisse Populaire et les activités communautaires témoignent d’un esprit d’entraide.</a:t>
            </a:r>
            <a:endParaRPr lang="en-US" sz="1400" noProof="1"/>
          </a:p>
        </p:txBody>
      </p:sp>
      <p:sp>
        <p:nvSpPr>
          <p:cNvPr id="17" name="footer-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660400" y="6477000"/>
            <a:ext cx="108712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7A2E2E">
                <a:alpha val="33333"/>
              </a:srgbClr>
            </a:solidFill>
          </a:ln>
        </p:spPr>
      </p:sp>
      <p:sp>
        <p:nvSpPr>
          <p:cNvPr id="18" name="source"/>
          <p:cNvSpPr txBox="1"/>
          <p:nvPr/>
        </p:nvSpPr>
        <p:spPr>
          <a:xfrm>
            <a:off x="660400" y="6578600"/>
            <a:ext cx="914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6F6256"/>
                </a:solidFill>
                <a:latin typeface="Quattrocento Sans"/>
                <a:ea typeface="Quattrocento Sans"/>
              </a:rPr>
              <a:t>Source : </a:t>
            </a:r>
            <a:r>
              <a:rPr lang="en-US" sz="800" noProof="1" u="sng">
                <a:solidFill>
                  <a:srgbClr val="0563C1"/>
                </a:solidFill>
                <a:latin typeface="Quattrocento Sans"/>
                <a:ea typeface="Quattrocento Sans"/>
                <a:hlinkClick r:id="rId3"/>
              </a:rPr>
              <a:t>Diocèse d’Edmundston</a:t>
            </a:r>
            <a:r>
              <a:rPr lang="en-US" sz="800" noProof="1">
                <a:solidFill>
                  <a:srgbClr val="6F6256"/>
                </a:solidFill>
                <a:latin typeface="Quattrocento Sans"/>
                <a:ea typeface="Quattrocento Sans"/>
              </a:rPr>
              <a:t> — page historique, consultée le 7 août 2026 · Photos : Google, Archives R. H. S.-J. et contributions</a:t>
            </a:r>
            <a:endParaRPr lang="en-US" sz="800" noProof="1"/>
          </a:p>
        </p:txBody>
      </p:sp>
      <p:sp>
        <p:nvSpPr>
          <p:cNvPr id="19" name="page-num"/>
          <p:cNvSpPr txBox="1"/>
          <p:nvPr/>
        </p:nvSpPr>
        <p:spPr>
          <a:xfrm>
            <a:off x="10414000" y="6578600"/>
            <a:ext cx="11176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 b="1">
                <a:solidFill>
                  <a:srgbClr val="6F6256"/>
                </a:solidFill>
                <a:latin typeface="Quattrocento Sans"/>
                <a:ea typeface="Quattrocento Sans"/>
              </a:rPr>
              <a:t>07</a:t>
            </a:r>
            <a:endParaRPr lang="en-US" sz="9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in-image"/>
          <p:cNvPicPr/>
          <p:nvPr/>
        </p:nvPicPr>
        <p:blipFill>
          <a:blip r:embed="rId2"/>
          <a:srcRect t="7813" b="7813"/>
          <a:stretch>
            <a:fillRect/>
          </a:stretch>
        </p:blipFill>
        <p:spPr>
          <a:xfrm>
            <a:off x="0" y="0"/>
            <a:ext cx="5283200" cy="6858000"/>
          </a:xfrm>
          <a:prstGeom prst="rect">
            <a:avLst/>
          </a:prstGeom>
          <a:ln>
            <a:noFill/>
          </a:ln>
        </p:spPr>
      </p:pic>
      <p:sp>
        <p:nvSpPr>
          <p:cNvPr id="3" name="image-shade"/>
          <p:cNvSpPr/>
          <p:nvPr/>
        </p:nvSpPr>
        <p:spPr>
          <a:xfrm>
            <a:off x="0" y="0"/>
            <a:ext cx="5283200" cy="6858000"/>
          </a:xfrm>
          <a:prstGeom prst="rect">
            <a:avLst/>
          </a:prstGeom>
          <a:solidFill>
            <a:srgbClr val="17110D">
              <a:alpha val="13333"/>
            </a:srgbClr>
          </a:solidFill>
          <a:ln>
            <a:noFill/>
          </a:ln>
        </p:spPr>
      </p:sp>
      <p:sp>
        <p:nvSpPr>
          <p:cNvPr id="4" name="accent-edge"/>
          <p:cNvSpPr/>
          <p:nvPr/>
        </p:nvSpPr>
        <p:spPr>
          <a:xfrm>
            <a:off x="5283200" y="0"/>
            <a:ext cx="254000" cy="6858000"/>
          </a:xfrm>
          <a:prstGeom prst="rect">
            <a:avLst/>
          </a:prstGeom>
          <a:solidFill>
            <a:srgbClr val="7A2E2E"/>
          </a:solidFill>
          <a:ln>
            <a:noFill/>
          </a:ln>
        </p:spPr>
      </p:sp>
      <p:sp>
        <p:nvSpPr>
          <p:cNvPr id="5" name="year"/>
          <p:cNvSpPr txBox="1"/>
          <p:nvPr/>
        </p:nvSpPr>
        <p:spPr>
          <a:xfrm>
            <a:off x="6045200" y="685800"/>
            <a:ext cx="54864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5400" noProof="1" b="1">
                <a:solidFill>
                  <a:srgbClr val="7A2E2E"/>
                </a:solidFill>
                <a:latin typeface="Sorts Mill Goudy"/>
                <a:ea typeface="Sorts Mill Goudy"/>
              </a:rPr>
              <a:t>1967</a:t>
            </a:r>
            <a:endParaRPr lang="en-US" sz="5400" noProof="1"/>
          </a:p>
        </p:txBody>
      </p:sp>
      <p:sp>
        <p:nvSpPr>
          <p:cNvPr id="6" name="title-rul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6045200" y="1574800"/>
            <a:ext cx="13716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38100">
            <a:solidFill>
              <a:srgbClr val="B08A3C"/>
            </a:solidFill>
          </a:ln>
        </p:spPr>
      </p:sp>
      <p:sp>
        <p:nvSpPr>
          <p:cNvPr id="7" name="title"/>
          <p:cNvSpPr txBox="1"/>
          <p:nvPr/>
        </p:nvSpPr>
        <p:spPr>
          <a:xfrm>
            <a:off x="6045200" y="1854200"/>
            <a:ext cx="54864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08000"/>
              </a:lnSpc>
            </a:pPr>
            <a:r>
              <a:rPr lang="en-US" sz="3100" noProof="1" b="1">
                <a:solidFill>
                  <a:srgbClr val="2B2118"/>
                </a:solidFill>
                <a:latin typeface="Sorts Mill Goudy"/>
                <a:ea typeface="Sorts Mill Goudy"/>
              </a:rPr>
              <a:t>Paroisse religieuse, paroisse civile</a:t>
            </a:r>
            <a:endParaRPr lang="en-US" sz="3100" noProof="1"/>
          </a:p>
        </p:txBody>
      </p:sp>
      <p:sp>
        <p:nvSpPr>
          <p:cNvPr id="8" name="body"/>
          <p:cNvSpPr txBox="1"/>
          <p:nvPr/>
        </p:nvSpPr>
        <p:spPr>
          <a:xfrm>
            <a:off x="6045200" y="3022600"/>
            <a:ext cx="5486400" cy="208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2000"/>
              </a:lnSpc>
            </a:pPr>
            <a:r>
              <a:rPr lang="en-US" sz="1700" noProof="1">
                <a:solidFill>
                  <a:srgbClr val="2B2118"/>
                </a:solidFill>
                <a:latin typeface="Quattrocento Sans"/>
                <a:ea typeface="Quattrocento Sans"/>
              </a:rPr>
              <a:t>Le village de Saint-André s’incorpore le 2 octobre 1967. Il faut distinguer cette réalité civile de la paroisse religieuse, dont le territoire est un peu moins étendu.</a:t>
            </a:r>
            <a:endParaRPr lang="en-US" sz="1700" noProof="1"/>
          </a:p>
        </p:txBody>
      </p:sp>
      <p:sp>
        <p:nvSpPr>
          <p:cNvPr id="9" name="icon"/>
          <p:cNvSpPr/>
          <p:nvPr>
            <p:extLst>
              <p:ext uri="{F5677B7D-0D2A-4D9B-9A5C-6D8D7D0E5A5D}">
                <pptd:icon encoding="base64url">eyJpY29uTmFtZSI6ImZhczptYXAifQ</pptd:icon>
              </p:ext>
            </p:extLst>
          </p:nvPr>
        </p:nvSpPr>
        <p:spPr>
          <a:xfrm>
            <a:off x="6045200" y="5435600"/>
            <a:ext cx="482600" cy="482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12" y="48"/>
                </a:moveTo>
                <a:cubicBezTo>
                  <a:pt x="512" y="37"/>
                  <a:pt x="506" y="27"/>
                  <a:pt x="497" y="21"/>
                </a:cubicBezTo>
                <a:cubicBezTo>
                  <a:pt x="487" y="15"/>
                  <a:pt x="476" y="14"/>
                  <a:pt x="466" y="19"/>
                </a:cubicBezTo>
                <a:lnTo>
                  <a:pt x="350" y="78"/>
                </a:lnTo>
                <a:lnTo>
                  <a:pt x="170" y="18"/>
                </a:lnTo>
                <a:cubicBezTo>
                  <a:pt x="162" y="15"/>
                  <a:pt x="153" y="16"/>
                  <a:pt x="146" y="19"/>
                </a:cubicBezTo>
                <a:lnTo>
                  <a:pt x="18" y="83"/>
                </a:lnTo>
                <a:cubicBezTo>
                  <a:pt x="7" y="89"/>
                  <a:pt x="0" y="100"/>
                  <a:pt x="0" y="112"/>
                </a:cubicBezTo>
                <a:lnTo>
                  <a:pt x="0" y="464"/>
                </a:lnTo>
                <a:cubicBezTo>
                  <a:pt x="0" y="475"/>
                  <a:pt x="6" y="485"/>
                  <a:pt x="15" y="491"/>
                </a:cubicBezTo>
                <a:cubicBezTo>
                  <a:pt x="25" y="497"/>
                  <a:pt x="36" y="498"/>
                  <a:pt x="46" y="493"/>
                </a:cubicBezTo>
                <a:lnTo>
                  <a:pt x="162" y="434"/>
                </a:lnTo>
                <a:lnTo>
                  <a:pt x="342" y="494"/>
                </a:lnTo>
                <a:cubicBezTo>
                  <a:pt x="350" y="497"/>
                  <a:pt x="359" y="496"/>
                  <a:pt x="366" y="493"/>
                </a:cubicBezTo>
                <a:lnTo>
                  <a:pt x="494" y="429"/>
                </a:lnTo>
                <a:cubicBezTo>
                  <a:pt x="505" y="423"/>
                  <a:pt x="512" y="412"/>
                  <a:pt x="512" y="400"/>
                </a:cubicBezTo>
                <a:lnTo>
                  <a:pt x="512" y="48"/>
                </a:lnTo>
                <a:close/>
                <a:moveTo>
                  <a:pt x="192" y="377"/>
                </a:moveTo>
                <a:lnTo>
                  <a:pt x="192" y="92"/>
                </a:lnTo>
                <a:lnTo>
                  <a:pt x="320" y="135"/>
                </a:lnTo>
                <a:lnTo>
                  <a:pt x="320" y="420"/>
                </a:lnTo>
                <a:lnTo>
                  <a:pt x="192" y="377"/>
                </a:lnTo>
                <a:close/>
              </a:path>
            </a:pathLst>
          </a:custGeom>
          <a:solidFill>
            <a:srgbClr val="B08A3C"/>
          </a:solidFill>
          <a:ln>
            <a:noFill/>
          </a:ln>
        </p:spPr>
      </p:sp>
      <p:sp>
        <p:nvSpPr>
          <p:cNvPr id="10" name="footer-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660400" y="6477000"/>
            <a:ext cx="108712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7A2E2E">
                <a:alpha val="33333"/>
              </a:srgbClr>
            </a:solidFill>
          </a:ln>
        </p:spPr>
      </p:sp>
      <p:sp>
        <p:nvSpPr>
          <p:cNvPr id="11" name="source"/>
          <p:cNvSpPr txBox="1"/>
          <p:nvPr/>
        </p:nvSpPr>
        <p:spPr>
          <a:xfrm>
            <a:off x="660400" y="6578600"/>
            <a:ext cx="914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6F6256"/>
                </a:solidFill>
                <a:latin typeface="Quattrocento Sans"/>
                <a:ea typeface="Quattrocento Sans"/>
              </a:rPr>
              <a:t>Source : </a:t>
            </a:r>
            <a:r>
              <a:rPr lang="en-US" sz="800" noProof="1" u="sng">
                <a:solidFill>
                  <a:srgbClr val="0563C1"/>
                </a:solidFill>
                <a:latin typeface="Quattrocento Sans"/>
                <a:ea typeface="Quattrocento Sans"/>
                <a:hlinkClick r:id="rId3"/>
              </a:rPr>
              <a:t>Diocèse d’Edmundston</a:t>
            </a:r>
            <a:r>
              <a:rPr lang="en-US" sz="800" noProof="1">
                <a:solidFill>
                  <a:srgbClr val="6F6256"/>
                </a:solidFill>
                <a:latin typeface="Quattrocento Sans"/>
                <a:ea typeface="Quattrocento Sans"/>
              </a:rPr>
              <a:t> — page historique, consultée le 7 août 2026 · Photos : Google, Archives R. H. S.-J. et contributions</a:t>
            </a:r>
            <a:endParaRPr lang="en-US" sz="800" noProof="1"/>
          </a:p>
        </p:txBody>
      </p:sp>
      <p:sp>
        <p:nvSpPr>
          <p:cNvPr id="12" name="page-num"/>
          <p:cNvSpPr txBox="1"/>
          <p:nvPr/>
        </p:nvSpPr>
        <p:spPr>
          <a:xfrm>
            <a:off x="10414000" y="6578600"/>
            <a:ext cx="11176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 b="1">
                <a:solidFill>
                  <a:srgbClr val="6F6256"/>
                </a:solidFill>
                <a:latin typeface="Quattrocento Sans"/>
                <a:ea typeface="Quattrocento Sans"/>
              </a:rPr>
              <a:t>08</a:t>
            </a:r>
            <a:endParaRPr lang="en-US" sz="9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in-image"/>
          <p:cNvPicPr/>
          <p:nvPr/>
        </p:nvPicPr>
        <p:blipFill>
          <a:blip r:embed="rId2"/>
          <a:srcRect l="18222" r="18222"/>
          <a:stretch>
            <a:fillRect/>
          </a:stretch>
        </p:blipFill>
        <p:spPr>
          <a:xfrm>
            <a:off x="6908800" y="0"/>
            <a:ext cx="5283200" cy="6858000"/>
          </a:xfrm>
          <a:prstGeom prst="rect">
            <a:avLst/>
          </a:prstGeom>
          <a:ln>
            <a:noFill/>
          </a:ln>
        </p:spPr>
      </p:pic>
      <p:sp>
        <p:nvSpPr>
          <p:cNvPr id="3" name="image-shade"/>
          <p:cNvSpPr/>
          <p:nvPr/>
        </p:nvSpPr>
        <p:spPr>
          <a:xfrm>
            <a:off x="6908800" y="0"/>
            <a:ext cx="5283200" cy="6858000"/>
          </a:xfrm>
          <a:prstGeom prst="rect">
            <a:avLst/>
          </a:prstGeom>
          <a:solidFill>
            <a:srgbClr val="17110D">
              <a:alpha val="13333"/>
            </a:srgbClr>
          </a:solidFill>
          <a:ln>
            <a:noFill/>
          </a:ln>
        </p:spPr>
      </p:sp>
      <p:sp>
        <p:nvSpPr>
          <p:cNvPr id="4" name="accent-edge"/>
          <p:cNvSpPr/>
          <p:nvPr/>
        </p:nvSpPr>
        <p:spPr>
          <a:xfrm>
            <a:off x="6654800" y="0"/>
            <a:ext cx="254000" cy="6858000"/>
          </a:xfrm>
          <a:prstGeom prst="rect">
            <a:avLst/>
          </a:prstGeom>
          <a:solidFill>
            <a:srgbClr val="7A2E2E"/>
          </a:solidFill>
          <a:ln>
            <a:noFill/>
          </a:ln>
        </p:spPr>
      </p:sp>
      <p:sp>
        <p:nvSpPr>
          <p:cNvPr id="5" name="year"/>
          <p:cNvSpPr txBox="1"/>
          <p:nvPr/>
        </p:nvSpPr>
        <p:spPr>
          <a:xfrm>
            <a:off x="660400" y="685800"/>
            <a:ext cx="54864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5400" noProof="1" b="1">
                <a:solidFill>
                  <a:srgbClr val="7A2E2E"/>
                </a:solidFill>
                <a:latin typeface="Sorts Mill Goudy"/>
                <a:ea typeface="Sorts Mill Goudy"/>
              </a:rPr>
              <a:t>1982</a:t>
            </a:r>
            <a:endParaRPr lang="en-US" sz="5400" noProof="1"/>
          </a:p>
        </p:txBody>
      </p:sp>
      <p:sp>
        <p:nvSpPr>
          <p:cNvPr id="6" name="title-rul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660400" y="1574800"/>
            <a:ext cx="13716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38100">
            <a:solidFill>
              <a:srgbClr val="B08A3C"/>
            </a:solidFill>
          </a:ln>
        </p:spPr>
      </p:sp>
      <p:sp>
        <p:nvSpPr>
          <p:cNvPr id="7" name="title"/>
          <p:cNvSpPr txBox="1"/>
          <p:nvPr/>
        </p:nvSpPr>
        <p:spPr>
          <a:xfrm>
            <a:off x="660400" y="1854200"/>
            <a:ext cx="54864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08000"/>
              </a:lnSpc>
            </a:pPr>
            <a:r>
              <a:rPr lang="en-US" sz="3100" noProof="1" b="1">
                <a:solidFill>
                  <a:srgbClr val="2B2118"/>
                </a:solidFill>
                <a:latin typeface="Sorts Mill Goudy"/>
                <a:ea typeface="Sorts Mill Goudy"/>
              </a:rPr>
              <a:t>« Fructus ex floribus »</a:t>
            </a:r>
            <a:endParaRPr lang="en-US" sz="3100" noProof="1"/>
          </a:p>
        </p:txBody>
      </p:sp>
      <p:sp>
        <p:nvSpPr>
          <p:cNvPr id="8" name="body"/>
          <p:cNvSpPr txBox="1"/>
          <p:nvPr/>
        </p:nvSpPr>
        <p:spPr>
          <a:xfrm>
            <a:off x="660400" y="3022600"/>
            <a:ext cx="5486400" cy="208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2000"/>
              </a:lnSpc>
            </a:pPr>
            <a:r>
              <a:rPr lang="en-US" sz="1700" noProof="1">
                <a:solidFill>
                  <a:srgbClr val="2B2118"/>
                </a:solidFill>
                <a:latin typeface="Quattrocento Sans"/>
                <a:ea typeface="Quattrocento Sans"/>
              </a:rPr>
              <a:t>Les armoiries du village sont adoptées en 1982. La devise — « Le fruit suit la fleur » — exprime le dynamisme d’une communauté qui récolte ce qu’elle sème.</a:t>
            </a:r>
            <a:endParaRPr lang="en-US" sz="1700" noProof="1"/>
          </a:p>
        </p:txBody>
      </p:sp>
      <p:sp>
        <p:nvSpPr>
          <p:cNvPr id="9" name="icon"/>
          <p:cNvSpPr/>
          <p:nvPr>
            <p:extLst>
              <p:ext uri="{F5677B7D-0D2A-4D9B-9A5C-6D8D7D0E5A5D}">
                <pptd:icon encoding="base64url">eyJpY29uTmFtZSI6ImZhczp3aGVhdC1hd24ifQ</pptd:icon>
              </p:ext>
            </p:extLst>
          </p:nvPr>
        </p:nvSpPr>
        <p:spPr>
          <a:xfrm>
            <a:off x="660400" y="5435600"/>
            <a:ext cx="482600" cy="4826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80" y="235"/>
                </a:moveTo>
                <a:cubicBezTo>
                  <a:pt x="86" y="231"/>
                  <a:pt x="94" y="231"/>
                  <a:pt x="100" y="237"/>
                </a:cubicBezTo>
                <a:lnTo>
                  <a:pt x="146" y="283"/>
                </a:lnTo>
                <a:lnTo>
                  <a:pt x="152" y="290"/>
                </a:lnTo>
                <a:cubicBezTo>
                  <a:pt x="172" y="313"/>
                  <a:pt x="178" y="345"/>
                  <a:pt x="171" y="373"/>
                </a:cubicBezTo>
                <a:cubicBezTo>
                  <a:pt x="203" y="366"/>
                  <a:pt x="237" y="374"/>
                  <a:pt x="262" y="399"/>
                </a:cubicBezTo>
                <a:lnTo>
                  <a:pt x="308" y="445"/>
                </a:lnTo>
                <a:cubicBezTo>
                  <a:pt x="314" y="451"/>
                  <a:pt x="314" y="461"/>
                  <a:pt x="308" y="467"/>
                </a:cubicBezTo>
                <a:lnTo>
                  <a:pt x="301" y="475"/>
                </a:lnTo>
                <a:cubicBezTo>
                  <a:pt x="263" y="512"/>
                  <a:pt x="202" y="512"/>
                  <a:pt x="165" y="475"/>
                </a:cubicBezTo>
                <a:lnTo>
                  <a:pt x="134" y="444"/>
                </a:lnTo>
                <a:lnTo>
                  <a:pt x="49" y="529"/>
                </a:lnTo>
                <a:cubicBezTo>
                  <a:pt x="40" y="538"/>
                  <a:pt x="25" y="538"/>
                  <a:pt x="16" y="529"/>
                </a:cubicBezTo>
                <a:cubicBezTo>
                  <a:pt x="6" y="520"/>
                  <a:pt x="6" y="504"/>
                  <a:pt x="16" y="495"/>
                </a:cubicBezTo>
                <a:lnTo>
                  <a:pt x="100" y="410"/>
                </a:lnTo>
                <a:lnTo>
                  <a:pt x="70" y="380"/>
                </a:lnTo>
                <a:cubicBezTo>
                  <a:pt x="32" y="342"/>
                  <a:pt x="32" y="282"/>
                  <a:pt x="70" y="244"/>
                </a:cubicBezTo>
                <a:lnTo>
                  <a:pt x="77" y="237"/>
                </a:lnTo>
                <a:lnTo>
                  <a:pt x="80" y="235"/>
                </a:lnTo>
                <a:close/>
              </a:path>
              <a:path w="576" h="512">
                <a:moveTo>
                  <a:pt x="184" y="131"/>
                </a:moveTo>
                <a:cubicBezTo>
                  <a:pt x="190" y="127"/>
                  <a:pt x="198" y="127"/>
                  <a:pt x="204" y="133"/>
                </a:cubicBezTo>
                <a:lnTo>
                  <a:pt x="250" y="179"/>
                </a:lnTo>
                <a:lnTo>
                  <a:pt x="256" y="185"/>
                </a:lnTo>
                <a:cubicBezTo>
                  <a:pt x="276" y="209"/>
                  <a:pt x="282" y="240"/>
                  <a:pt x="275" y="269"/>
                </a:cubicBezTo>
                <a:cubicBezTo>
                  <a:pt x="307" y="262"/>
                  <a:pt x="341" y="270"/>
                  <a:pt x="366" y="295"/>
                </a:cubicBezTo>
                <a:lnTo>
                  <a:pt x="412" y="341"/>
                </a:lnTo>
                <a:cubicBezTo>
                  <a:pt x="418" y="347"/>
                  <a:pt x="418" y="357"/>
                  <a:pt x="412" y="363"/>
                </a:cubicBezTo>
                <a:lnTo>
                  <a:pt x="405" y="371"/>
                </a:lnTo>
                <a:cubicBezTo>
                  <a:pt x="367" y="408"/>
                  <a:pt x="306" y="408"/>
                  <a:pt x="269" y="371"/>
                </a:cubicBezTo>
                <a:lnTo>
                  <a:pt x="174" y="276"/>
                </a:lnTo>
                <a:cubicBezTo>
                  <a:pt x="136" y="238"/>
                  <a:pt x="136" y="178"/>
                  <a:pt x="174" y="140"/>
                </a:cubicBezTo>
                <a:lnTo>
                  <a:pt x="181" y="133"/>
                </a:lnTo>
                <a:lnTo>
                  <a:pt x="184" y="131"/>
                </a:lnTo>
                <a:close/>
              </a:path>
              <a:path w="576" h="512">
                <a:moveTo>
                  <a:pt x="495" y="15"/>
                </a:moveTo>
                <a:cubicBezTo>
                  <a:pt x="505" y="6"/>
                  <a:pt x="520" y="6"/>
                  <a:pt x="529" y="15"/>
                </a:cubicBezTo>
                <a:cubicBezTo>
                  <a:pt x="538" y="24"/>
                  <a:pt x="539" y="38"/>
                  <a:pt x="531" y="47"/>
                </a:cubicBezTo>
                <a:lnTo>
                  <a:pt x="529" y="49"/>
                </a:lnTo>
                <a:lnTo>
                  <a:pt x="415" y="163"/>
                </a:lnTo>
                <a:cubicBezTo>
                  <a:pt x="422" y="164"/>
                  <a:pt x="430" y="166"/>
                  <a:pt x="437" y="169"/>
                </a:cubicBezTo>
                <a:lnTo>
                  <a:pt x="496" y="111"/>
                </a:lnTo>
                <a:cubicBezTo>
                  <a:pt x="505" y="102"/>
                  <a:pt x="520" y="102"/>
                  <a:pt x="530" y="111"/>
                </a:cubicBezTo>
                <a:cubicBezTo>
                  <a:pt x="538" y="120"/>
                  <a:pt x="539" y="134"/>
                  <a:pt x="531" y="143"/>
                </a:cubicBezTo>
                <a:lnTo>
                  <a:pt x="529" y="145"/>
                </a:lnTo>
                <a:lnTo>
                  <a:pt x="477" y="198"/>
                </a:lnTo>
                <a:lnTo>
                  <a:pt x="516" y="237"/>
                </a:lnTo>
                <a:cubicBezTo>
                  <a:pt x="522" y="243"/>
                  <a:pt x="522" y="253"/>
                  <a:pt x="516" y="259"/>
                </a:cubicBezTo>
                <a:lnTo>
                  <a:pt x="508" y="267"/>
                </a:lnTo>
                <a:cubicBezTo>
                  <a:pt x="471" y="304"/>
                  <a:pt x="410" y="304"/>
                  <a:pt x="373" y="267"/>
                </a:cubicBezTo>
                <a:lnTo>
                  <a:pt x="278" y="172"/>
                </a:lnTo>
                <a:cubicBezTo>
                  <a:pt x="240" y="134"/>
                  <a:pt x="240" y="73"/>
                  <a:pt x="278" y="36"/>
                </a:cubicBezTo>
                <a:lnTo>
                  <a:pt x="285" y="29"/>
                </a:lnTo>
                <a:lnTo>
                  <a:pt x="288" y="27"/>
                </a:lnTo>
                <a:cubicBezTo>
                  <a:pt x="294" y="22"/>
                  <a:pt x="302" y="23"/>
                  <a:pt x="308" y="29"/>
                </a:cubicBezTo>
                <a:lnTo>
                  <a:pt x="347" y="68"/>
                </a:lnTo>
                <a:lnTo>
                  <a:pt x="399" y="15"/>
                </a:lnTo>
                <a:cubicBezTo>
                  <a:pt x="409" y="6"/>
                  <a:pt x="424" y="6"/>
                  <a:pt x="433" y="15"/>
                </a:cubicBezTo>
                <a:cubicBezTo>
                  <a:pt x="442" y="24"/>
                  <a:pt x="443" y="38"/>
                  <a:pt x="435" y="47"/>
                </a:cubicBezTo>
                <a:lnTo>
                  <a:pt x="433" y="49"/>
                </a:lnTo>
                <a:lnTo>
                  <a:pt x="375" y="107"/>
                </a:lnTo>
                <a:cubicBezTo>
                  <a:pt x="378" y="114"/>
                  <a:pt x="380" y="122"/>
                  <a:pt x="381" y="129"/>
                </a:cubicBezTo>
                <a:lnTo>
                  <a:pt x="495" y="15"/>
                </a:lnTo>
                <a:close/>
              </a:path>
            </a:pathLst>
          </a:custGeom>
          <a:solidFill>
            <a:srgbClr val="B08A3C"/>
          </a:solidFill>
          <a:ln>
            <a:noFill/>
          </a:ln>
        </p:spPr>
      </p:sp>
      <p:sp>
        <p:nvSpPr>
          <p:cNvPr id="10" name="footer-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660400" y="6477000"/>
            <a:ext cx="108712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7A2E2E">
                <a:alpha val="33333"/>
              </a:srgbClr>
            </a:solidFill>
          </a:ln>
        </p:spPr>
      </p:sp>
      <p:sp>
        <p:nvSpPr>
          <p:cNvPr id="11" name="source"/>
          <p:cNvSpPr txBox="1"/>
          <p:nvPr/>
        </p:nvSpPr>
        <p:spPr>
          <a:xfrm>
            <a:off x="660400" y="6578600"/>
            <a:ext cx="914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6F6256"/>
                </a:solidFill>
                <a:latin typeface="Quattrocento Sans"/>
                <a:ea typeface="Quattrocento Sans"/>
              </a:rPr>
              <a:t>Source : </a:t>
            </a:r>
            <a:r>
              <a:rPr lang="en-US" sz="800" noProof="1" u="sng">
                <a:solidFill>
                  <a:srgbClr val="0563C1"/>
                </a:solidFill>
                <a:latin typeface="Quattrocento Sans"/>
                <a:ea typeface="Quattrocento Sans"/>
                <a:hlinkClick r:id="rId3"/>
              </a:rPr>
              <a:t>Diocèse d’Edmundston</a:t>
            </a:r>
            <a:r>
              <a:rPr lang="en-US" sz="800" noProof="1">
                <a:solidFill>
                  <a:srgbClr val="6F6256"/>
                </a:solidFill>
                <a:latin typeface="Quattrocento Sans"/>
                <a:ea typeface="Quattrocento Sans"/>
              </a:rPr>
              <a:t> — page historique, consultée le 7 août 2026 · Photos : Google, Archives R. H. S.-J. et contributions</a:t>
            </a:r>
            <a:endParaRPr lang="en-US" sz="800" noProof="1"/>
          </a:p>
        </p:txBody>
      </p:sp>
      <p:sp>
        <p:nvSpPr>
          <p:cNvPr id="12" name="page-num"/>
          <p:cNvSpPr txBox="1"/>
          <p:nvPr/>
        </p:nvSpPr>
        <p:spPr>
          <a:xfrm>
            <a:off x="10414000" y="6578600"/>
            <a:ext cx="11176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 b="1">
                <a:solidFill>
                  <a:srgbClr val="6F6256"/>
                </a:solidFill>
                <a:latin typeface="Quattrocento Sans"/>
                <a:ea typeface="Quattrocento Sans"/>
              </a:rPr>
              <a:t>09</a:t>
            </a:r>
            <a:endParaRPr lang="en-US" sz="9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in-image"/>
          <p:cNvPicPr/>
          <p:nvPr/>
        </p:nvPicPr>
        <p:blipFill>
          <a:blip r:embed="rId2"/>
          <a:srcRect l="29086" r="29086"/>
          <a:stretch>
            <a:fillRect/>
          </a:stretch>
        </p:blipFill>
        <p:spPr>
          <a:xfrm>
            <a:off x="0" y="0"/>
            <a:ext cx="5283200" cy="6858000"/>
          </a:xfrm>
          <a:prstGeom prst="rect">
            <a:avLst/>
          </a:prstGeom>
          <a:ln>
            <a:noFill/>
          </a:ln>
        </p:spPr>
      </p:pic>
      <p:sp>
        <p:nvSpPr>
          <p:cNvPr id="3" name="image-shade"/>
          <p:cNvSpPr/>
          <p:nvPr/>
        </p:nvSpPr>
        <p:spPr>
          <a:xfrm>
            <a:off x="0" y="0"/>
            <a:ext cx="5283200" cy="6858000"/>
          </a:xfrm>
          <a:prstGeom prst="rect">
            <a:avLst/>
          </a:prstGeom>
          <a:solidFill>
            <a:srgbClr val="17110D">
              <a:alpha val="13333"/>
            </a:srgbClr>
          </a:solidFill>
          <a:ln>
            <a:noFill/>
          </a:ln>
        </p:spPr>
      </p:sp>
      <p:sp>
        <p:nvSpPr>
          <p:cNvPr id="4" name="accent-edge"/>
          <p:cNvSpPr/>
          <p:nvPr/>
        </p:nvSpPr>
        <p:spPr>
          <a:xfrm>
            <a:off x="5283200" y="0"/>
            <a:ext cx="254000" cy="6858000"/>
          </a:xfrm>
          <a:prstGeom prst="rect">
            <a:avLst/>
          </a:prstGeom>
          <a:solidFill>
            <a:srgbClr val="7A2E2E"/>
          </a:solidFill>
          <a:ln>
            <a:noFill/>
          </a:ln>
        </p:spPr>
      </p:sp>
      <p:sp>
        <p:nvSpPr>
          <p:cNvPr id="5" name="year"/>
          <p:cNvSpPr txBox="1"/>
          <p:nvPr/>
        </p:nvSpPr>
        <p:spPr>
          <a:xfrm>
            <a:off x="6045200" y="685800"/>
            <a:ext cx="54864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5400" noProof="1" b="1">
                <a:solidFill>
                  <a:srgbClr val="7A2E2E"/>
                </a:solidFill>
                <a:latin typeface="Sorts Mill Goudy"/>
                <a:ea typeface="Sorts Mill Goudy"/>
              </a:rPr>
              <a:t>Église</a:t>
            </a:r>
            <a:endParaRPr lang="en-US" sz="5400" noProof="1"/>
          </a:p>
        </p:txBody>
      </p:sp>
      <p:sp>
        <p:nvSpPr>
          <p:cNvPr id="6" name="title-rul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6045200" y="1574800"/>
            <a:ext cx="13716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38100">
            <a:solidFill>
              <a:srgbClr val="B08A3C"/>
            </a:solidFill>
          </a:ln>
        </p:spPr>
      </p:sp>
      <p:sp>
        <p:nvSpPr>
          <p:cNvPr id="7" name="title"/>
          <p:cNvSpPr txBox="1"/>
          <p:nvPr/>
        </p:nvSpPr>
        <p:spPr>
          <a:xfrm>
            <a:off x="6045200" y="1854200"/>
            <a:ext cx="54864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08000"/>
              </a:lnSpc>
            </a:pPr>
            <a:r>
              <a:rPr lang="en-US" sz="3100" noProof="1" b="1">
                <a:solidFill>
                  <a:srgbClr val="2B2118"/>
                </a:solidFill>
                <a:latin typeface="Sorts Mill Goudy"/>
                <a:ea typeface="Sorts Mill Goudy"/>
              </a:rPr>
              <a:t>Un patrimoine qui élève le regard</a:t>
            </a:r>
            <a:endParaRPr lang="en-US" sz="3100" noProof="1"/>
          </a:p>
        </p:txBody>
      </p:sp>
      <p:sp>
        <p:nvSpPr>
          <p:cNvPr id="8" name="body"/>
          <p:cNvSpPr txBox="1"/>
          <p:nvPr/>
        </p:nvSpPr>
        <p:spPr>
          <a:xfrm>
            <a:off x="6045200" y="3022600"/>
            <a:ext cx="5486400" cy="208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2000"/>
              </a:lnSpc>
            </a:pPr>
            <a:r>
              <a:rPr lang="en-US" sz="1700" noProof="1">
                <a:solidFill>
                  <a:srgbClr val="2B2118"/>
                </a:solidFill>
                <a:latin typeface="Quattrocento Sans"/>
                <a:ea typeface="Quattrocento Sans"/>
              </a:rPr>
              <a:t>La rosace, les tribunes, les colonnes et le décor intérieur rappellent que l’église est à la fois un lieu de prière et un dépôt de mémoire.</a:t>
            </a:r>
            <a:endParaRPr lang="en-US" sz="1700" noProof="1"/>
          </a:p>
        </p:txBody>
      </p:sp>
      <p:sp>
        <p:nvSpPr>
          <p:cNvPr id="9" name="icon"/>
          <p:cNvSpPr/>
          <p:nvPr>
            <p:extLst>
              <p:ext uri="{F5677B7D-0D2A-4D9B-9A5C-6D8D7D0E5A5D}">
                <pptd:icon encoding="base64url">eyJpY29uTmFtZSI6ImZhczpjaHVyY2gifQ</pptd:icon>
              </p:ext>
            </p:extLst>
          </p:nvPr>
        </p:nvSpPr>
        <p:spPr>
          <a:xfrm>
            <a:off x="6045200" y="5435600"/>
            <a:ext cx="482600" cy="482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80" y="-8"/>
                </a:moveTo>
                <a:cubicBezTo>
                  <a:pt x="280" y="-21"/>
                  <a:pt x="269" y="-32"/>
                  <a:pt x="256" y="-32"/>
                </a:cubicBezTo>
                <a:cubicBezTo>
                  <a:pt x="243" y="-32"/>
                  <a:pt x="232" y="-21"/>
                  <a:pt x="232" y="-8"/>
                </a:cubicBezTo>
                <a:lnTo>
                  <a:pt x="232" y="16"/>
                </a:lnTo>
                <a:lnTo>
                  <a:pt x="200" y="16"/>
                </a:lnTo>
                <a:cubicBezTo>
                  <a:pt x="187" y="16"/>
                  <a:pt x="176" y="27"/>
                  <a:pt x="176" y="40"/>
                </a:cubicBezTo>
                <a:cubicBezTo>
                  <a:pt x="176" y="53"/>
                  <a:pt x="187" y="64"/>
                  <a:pt x="200" y="64"/>
                </a:cubicBezTo>
                <a:lnTo>
                  <a:pt x="232" y="64"/>
                </a:lnTo>
                <a:lnTo>
                  <a:pt x="232" y="112"/>
                </a:lnTo>
                <a:lnTo>
                  <a:pt x="133" y="178"/>
                </a:lnTo>
                <a:cubicBezTo>
                  <a:pt x="120" y="187"/>
                  <a:pt x="112" y="202"/>
                  <a:pt x="112" y="218"/>
                </a:cubicBezTo>
                <a:lnTo>
                  <a:pt x="112" y="256"/>
                </a:lnTo>
                <a:lnTo>
                  <a:pt x="32" y="302"/>
                </a:lnTo>
                <a:cubicBezTo>
                  <a:pt x="12" y="313"/>
                  <a:pt x="0" y="334"/>
                  <a:pt x="0" y="357"/>
                </a:cubicBezTo>
                <a:lnTo>
                  <a:pt x="0" y="448"/>
                </a:lnTo>
                <a:cubicBezTo>
                  <a:pt x="0" y="483"/>
                  <a:pt x="29" y="512"/>
                  <a:pt x="64" y="512"/>
                </a:cubicBezTo>
                <a:cubicBezTo>
                  <a:pt x="139" y="512"/>
                  <a:pt x="149" y="512"/>
                  <a:pt x="384" y="512"/>
                </a:cubicBezTo>
                <a:lnTo>
                  <a:pt x="448" y="512"/>
                </a:lnTo>
                <a:cubicBezTo>
                  <a:pt x="483" y="512"/>
                  <a:pt x="512" y="483"/>
                  <a:pt x="512" y="448"/>
                </a:cubicBezTo>
                <a:lnTo>
                  <a:pt x="512" y="357"/>
                </a:lnTo>
                <a:cubicBezTo>
                  <a:pt x="512" y="334"/>
                  <a:pt x="500" y="313"/>
                  <a:pt x="480" y="302"/>
                </a:cubicBezTo>
                <a:lnTo>
                  <a:pt x="400" y="256"/>
                </a:lnTo>
                <a:lnTo>
                  <a:pt x="400" y="218"/>
                </a:lnTo>
                <a:cubicBezTo>
                  <a:pt x="400" y="202"/>
                  <a:pt x="392" y="187"/>
                  <a:pt x="379" y="178"/>
                </a:cubicBezTo>
                <a:lnTo>
                  <a:pt x="280" y="112"/>
                </a:lnTo>
                <a:lnTo>
                  <a:pt x="280" y="64"/>
                </a:lnTo>
                <a:lnTo>
                  <a:pt x="312" y="64"/>
                </a:lnTo>
                <a:cubicBezTo>
                  <a:pt x="325" y="64"/>
                  <a:pt x="336" y="53"/>
                  <a:pt x="336" y="40"/>
                </a:cubicBezTo>
                <a:cubicBezTo>
                  <a:pt x="336" y="27"/>
                  <a:pt x="325" y="16"/>
                  <a:pt x="312" y="16"/>
                </a:cubicBezTo>
                <a:lnTo>
                  <a:pt x="280" y="16"/>
                </a:lnTo>
                <a:lnTo>
                  <a:pt x="280" y="-8"/>
                </a:lnTo>
                <a:close/>
                <a:moveTo>
                  <a:pt x="256" y="320"/>
                </a:moveTo>
                <a:cubicBezTo>
                  <a:pt x="291" y="320"/>
                  <a:pt x="320" y="349"/>
                  <a:pt x="320" y="384"/>
                </a:cubicBezTo>
                <a:lnTo>
                  <a:pt x="320" y="464"/>
                </a:lnTo>
                <a:lnTo>
                  <a:pt x="192" y="464"/>
                </a:lnTo>
                <a:lnTo>
                  <a:pt x="192" y="384"/>
                </a:lnTo>
                <a:cubicBezTo>
                  <a:pt x="192" y="349"/>
                  <a:pt x="221" y="320"/>
                  <a:pt x="256" y="320"/>
                </a:cubicBezTo>
                <a:close/>
              </a:path>
            </a:pathLst>
          </a:custGeom>
          <a:solidFill>
            <a:srgbClr val="B08A3C"/>
          </a:solidFill>
          <a:ln>
            <a:noFill/>
          </a:ln>
        </p:spPr>
      </p:sp>
      <p:sp>
        <p:nvSpPr>
          <p:cNvPr id="10" name="footer-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660400" y="6477000"/>
            <a:ext cx="108712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7A2E2E">
                <a:alpha val="33333"/>
              </a:srgbClr>
            </a:solidFill>
          </a:ln>
        </p:spPr>
      </p:sp>
      <p:sp>
        <p:nvSpPr>
          <p:cNvPr id="11" name="source"/>
          <p:cNvSpPr txBox="1"/>
          <p:nvPr/>
        </p:nvSpPr>
        <p:spPr>
          <a:xfrm>
            <a:off x="660400" y="6578600"/>
            <a:ext cx="914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6F6256"/>
                </a:solidFill>
                <a:latin typeface="Quattrocento Sans"/>
                <a:ea typeface="Quattrocento Sans"/>
              </a:rPr>
              <a:t>Source : </a:t>
            </a:r>
            <a:r>
              <a:rPr lang="en-US" sz="800" noProof="1" u="sng">
                <a:solidFill>
                  <a:srgbClr val="0563C1"/>
                </a:solidFill>
                <a:latin typeface="Quattrocento Sans"/>
                <a:ea typeface="Quattrocento Sans"/>
                <a:hlinkClick r:id="rId3"/>
              </a:rPr>
              <a:t>Diocèse d’Edmundston</a:t>
            </a:r>
            <a:r>
              <a:rPr lang="en-US" sz="800" noProof="1">
                <a:solidFill>
                  <a:srgbClr val="6F6256"/>
                </a:solidFill>
                <a:latin typeface="Quattrocento Sans"/>
                <a:ea typeface="Quattrocento Sans"/>
              </a:rPr>
              <a:t> — page historique, consultée le 7 août 2026 · Photos : Google, Archives R. H. S.-J. et contributions</a:t>
            </a:r>
            <a:endParaRPr lang="en-US" sz="800" noProof="1"/>
          </a:p>
        </p:txBody>
      </p:sp>
      <p:sp>
        <p:nvSpPr>
          <p:cNvPr id="12" name="page-num"/>
          <p:cNvSpPr txBox="1"/>
          <p:nvPr/>
        </p:nvSpPr>
        <p:spPr>
          <a:xfrm>
            <a:off x="10414000" y="6578600"/>
            <a:ext cx="11176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 b="1">
                <a:solidFill>
                  <a:srgbClr val="6F6256"/>
                </a:solidFill>
                <a:latin typeface="Quattrocento Sans"/>
                <a:ea typeface="Quattrocento Sans"/>
              </a:rPr>
              <a:t>10</a:t>
            </a:r>
            <a:endParaRPr lang="en-US" sz="9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year"/>
          <p:cNvSpPr txBox="1"/>
          <p:nvPr/>
        </p:nvSpPr>
        <p:spPr>
          <a:xfrm>
            <a:off x="660400" y="584200"/>
            <a:ext cx="2794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noProof="1" b="1" spc="120" kern="0">
                <a:solidFill>
                  <a:srgbClr val="7A2E2E"/>
                </a:solidFill>
                <a:latin typeface="Quattrocento Sans"/>
                <a:ea typeface="Quattrocento Sans"/>
              </a:rPr>
              <a:t>Jalons</a:t>
            </a:r>
            <a:endParaRPr lang="en-US" sz="2000" noProof="1"/>
          </a:p>
        </p:txBody>
      </p:sp>
      <p:sp>
        <p:nvSpPr>
          <p:cNvPr id="3" name="title"/>
          <p:cNvSpPr txBox="1"/>
          <p:nvPr/>
        </p:nvSpPr>
        <p:spPr>
          <a:xfrm>
            <a:off x="660400" y="1092200"/>
            <a:ext cx="7620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08000"/>
              </a:lnSpc>
            </a:pPr>
            <a:r>
              <a:rPr lang="en-US" sz="3400" noProof="1" b="1">
                <a:solidFill>
                  <a:srgbClr val="2B2118"/>
                </a:solidFill>
                <a:latin typeface="Sorts Mill Goudy"/>
                <a:ea typeface="Sorts Mill Goudy"/>
              </a:rPr>
              <a:t>Du territoire à la communauté</a:t>
            </a:r>
            <a:endParaRPr lang="en-US" sz="3400" noProof="1"/>
          </a:p>
        </p:txBody>
      </p:sp>
      <p:sp>
        <p:nvSpPr>
          <p:cNvPr id="4" name="main-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889000" y="3530600"/>
            <a:ext cx="104140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38100">
            <a:solidFill>
              <a:srgbClr val="7A2E2E"/>
            </a:solidFill>
          </a:ln>
        </p:spPr>
      </p:sp>
      <p:sp>
        <p:nvSpPr>
          <p:cNvPr id="5" name="node-0"/>
          <p:cNvSpPr/>
          <p:nvPr/>
        </p:nvSpPr>
        <p:spPr>
          <a:xfrm>
            <a:off x="774700" y="3416300"/>
            <a:ext cx="228600" cy="228600"/>
          </a:xfrm>
          <a:prstGeom prst="ellipse">
            <a:avLst/>
          </a:prstGeom>
          <a:solidFill>
            <a:srgbClr val="B08A3C"/>
          </a:solidFill>
          <a:ln w="38100">
            <a:solidFill>
              <a:srgbClr val="F5F0E6"/>
            </a:solidFill>
          </a:ln>
        </p:spPr>
      </p:sp>
      <p:sp>
        <p:nvSpPr>
          <p:cNvPr id="6" name="yr-0"/>
          <p:cNvSpPr txBox="1"/>
          <p:nvPr/>
        </p:nvSpPr>
        <p:spPr>
          <a:xfrm>
            <a:off x="152400" y="2159000"/>
            <a:ext cx="1473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2100" noProof="1" b="1">
                <a:solidFill>
                  <a:srgbClr val="7A2E2E"/>
                </a:solidFill>
                <a:latin typeface="Sorts Mill Goudy"/>
                <a:ea typeface="Sorts Mill Goudy"/>
              </a:rPr>
              <a:t>1842</a:t>
            </a:r>
            <a:endParaRPr lang="en-US" sz="2100" noProof="1"/>
          </a:p>
        </p:txBody>
      </p:sp>
      <p:sp>
        <p:nvSpPr>
          <p:cNvPr id="7" name="label-0"/>
          <p:cNvSpPr txBox="1"/>
          <p:nvPr/>
        </p:nvSpPr>
        <p:spPr>
          <a:xfrm>
            <a:off x="25400" y="2641600"/>
            <a:ext cx="17272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2B2118"/>
                </a:solidFill>
                <a:latin typeface="Quattrocento Sans"/>
                <a:ea typeface="Quattrocento Sans"/>
              </a:rPr>
              <a:t>Premiers arpentages</a:t>
            </a:r>
            <a:endParaRPr lang="en-US" sz="1100" noProof="1"/>
          </a:p>
        </p:txBody>
      </p:sp>
      <p:sp>
        <p:nvSpPr>
          <p:cNvPr id="8" name="node-1"/>
          <p:cNvSpPr/>
          <p:nvPr/>
        </p:nvSpPr>
        <p:spPr>
          <a:xfrm>
            <a:off x="2857500" y="3416300"/>
            <a:ext cx="228600" cy="228600"/>
          </a:xfrm>
          <a:prstGeom prst="ellipse">
            <a:avLst/>
          </a:prstGeom>
          <a:solidFill>
            <a:srgbClr val="B08A3C"/>
          </a:solidFill>
          <a:ln w="38100">
            <a:solidFill>
              <a:srgbClr val="F5F0E6"/>
            </a:solidFill>
          </a:ln>
        </p:spPr>
      </p:sp>
      <p:sp>
        <p:nvSpPr>
          <p:cNvPr id="9" name="yr-1"/>
          <p:cNvSpPr txBox="1"/>
          <p:nvPr/>
        </p:nvSpPr>
        <p:spPr>
          <a:xfrm>
            <a:off x="2235200" y="3810000"/>
            <a:ext cx="1473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2100" noProof="1" b="1">
                <a:solidFill>
                  <a:srgbClr val="7A2E2E"/>
                </a:solidFill>
                <a:latin typeface="Sorts Mill Goudy"/>
                <a:ea typeface="Sorts Mill Goudy"/>
              </a:rPr>
              <a:t>1904</a:t>
            </a:r>
            <a:endParaRPr lang="en-US" sz="2100" noProof="1"/>
          </a:p>
        </p:txBody>
      </p:sp>
      <p:sp>
        <p:nvSpPr>
          <p:cNvPr id="10" name="label-1"/>
          <p:cNvSpPr txBox="1"/>
          <p:nvPr/>
        </p:nvSpPr>
        <p:spPr>
          <a:xfrm>
            <a:off x="2108200" y="4292600"/>
            <a:ext cx="17272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2B2118"/>
                </a:solidFill>
                <a:latin typeface="Quattrocento Sans"/>
                <a:ea typeface="Quattrocento Sans"/>
              </a:rPr>
              <a:t>Fondation paroissiale</a:t>
            </a:r>
            <a:endParaRPr lang="en-US" sz="1100" noProof="1"/>
          </a:p>
        </p:txBody>
      </p:sp>
      <p:sp>
        <p:nvSpPr>
          <p:cNvPr id="11" name="node-2"/>
          <p:cNvSpPr/>
          <p:nvPr/>
        </p:nvSpPr>
        <p:spPr>
          <a:xfrm>
            <a:off x="4940300" y="3416300"/>
            <a:ext cx="228600" cy="228600"/>
          </a:xfrm>
          <a:prstGeom prst="ellipse">
            <a:avLst/>
          </a:prstGeom>
          <a:solidFill>
            <a:srgbClr val="B08A3C"/>
          </a:solidFill>
          <a:ln w="38100">
            <a:solidFill>
              <a:srgbClr val="F5F0E6"/>
            </a:solidFill>
          </a:ln>
        </p:spPr>
      </p:sp>
      <p:sp>
        <p:nvSpPr>
          <p:cNvPr id="12" name="yr-2"/>
          <p:cNvSpPr txBox="1"/>
          <p:nvPr/>
        </p:nvSpPr>
        <p:spPr>
          <a:xfrm>
            <a:off x="4318000" y="2159000"/>
            <a:ext cx="1473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2100" noProof="1" b="1">
                <a:solidFill>
                  <a:srgbClr val="7A2E2E"/>
                </a:solidFill>
                <a:latin typeface="Sorts Mill Goudy"/>
                <a:ea typeface="Sorts Mill Goudy"/>
              </a:rPr>
              <a:t>1939</a:t>
            </a:r>
            <a:endParaRPr lang="en-US" sz="2100" noProof="1"/>
          </a:p>
        </p:txBody>
      </p:sp>
      <p:sp>
        <p:nvSpPr>
          <p:cNvPr id="13" name="label-2"/>
          <p:cNvSpPr txBox="1"/>
          <p:nvPr/>
        </p:nvSpPr>
        <p:spPr>
          <a:xfrm>
            <a:off x="4191000" y="2641600"/>
            <a:ext cx="17272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2B2118"/>
                </a:solidFill>
                <a:latin typeface="Quattrocento Sans"/>
                <a:ea typeface="Quattrocento Sans"/>
              </a:rPr>
              <a:t>Chapelle Saint-Éloi</a:t>
            </a:r>
            <a:endParaRPr lang="en-US" sz="1100" noProof="1"/>
          </a:p>
        </p:txBody>
      </p:sp>
      <p:sp>
        <p:nvSpPr>
          <p:cNvPr id="14" name="node-3"/>
          <p:cNvSpPr/>
          <p:nvPr/>
        </p:nvSpPr>
        <p:spPr>
          <a:xfrm>
            <a:off x="7023100" y="3416300"/>
            <a:ext cx="228600" cy="228600"/>
          </a:xfrm>
          <a:prstGeom prst="ellipse">
            <a:avLst/>
          </a:prstGeom>
          <a:solidFill>
            <a:srgbClr val="B08A3C"/>
          </a:solidFill>
          <a:ln w="38100">
            <a:solidFill>
              <a:srgbClr val="F5F0E6"/>
            </a:solidFill>
          </a:ln>
        </p:spPr>
      </p:sp>
      <p:sp>
        <p:nvSpPr>
          <p:cNvPr id="15" name="yr-3"/>
          <p:cNvSpPr txBox="1"/>
          <p:nvPr/>
        </p:nvSpPr>
        <p:spPr>
          <a:xfrm>
            <a:off x="6400800" y="3810000"/>
            <a:ext cx="1473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2100" noProof="1" b="1">
                <a:solidFill>
                  <a:srgbClr val="7A2E2E"/>
                </a:solidFill>
                <a:latin typeface="Sorts Mill Goudy"/>
                <a:ea typeface="Sorts Mill Goudy"/>
              </a:rPr>
              <a:t>1967</a:t>
            </a:r>
            <a:endParaRPr lang="en-US" sz="2100" noProof="1"/>
          </a:p>
        </p:txBody>
      </p:sp>
      <p:sp>
        <p:nvSpPr>
          <p:cNvPr id="16" name="label-3"/>
          <p:cNvSpPr txBox="1"/>
          <p:nvPr/>
        </p:nvSpPr>
        <p:spPr>
          <a:xfrm>
            <a:off x="6273800" y="4292600"/>
            <a:ext cx="17272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2B2118"/>
                </a:solidFill>
                <a:latin typeface="Quattrocento Sans"/>
                <a:ea typeface="Quattrocento Sans"/>
              </a:rPr>
              <a:t>Incorporation du village</a:t>
            </a:r>
            <a:endParaRPr lang="en-US" sz="1100" noProof="1"/>
          </a:p>
        </p:txBody>
      </p:sp>
      <p:sp>
        <p:nvSpPr>
          <p:cNvPr id="17" name="node-4"/>
          <p:cNvSpPr/>
          <p:nvPr/>
        </p:nvSpPr>
        <p:spPr>
          <a:xfrm>
            <a:off x="9105900" y="3416300"/>
            <a:ext cx="228600" cy="228600"/>
          </a:xfrm>
          <a:prstGeom prst="ellipse">
            <a:avLst/>
          </a:prstGeom>
          <a:solidFill>
            <a:srgbClr val="B08A3C"/>
          </a:solidFill>
          <a:ln w="38100">
            <a:solidFill>
              <a:srgbClr val="F5F0E6"/>
            </a:solidFill>
          </a:ln>
        </p:spPr>
      </p:sp>
      <p:sp>
        <p:nvSpPr>
          <p:cNvPr id="18" name="yr-4"/>
          <p:cNvSpPr txBox="1"/>
          <p:nvPr/>
        </p:nvSpPr>
        <p:spPr>
          <a:xfrm>
            <a:off x="8483600" y="2159000"/>
            <a:ext cx="1473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2100" noProof="1" b="1">
                <a:solidFill>
                  <a:srgbClr val="7A2E2E"/>
                </a:solidFill>
                <a:latin typeface="Sorts Mill Goudy"/>
                <a:ea typeface="Sorts Mill Goudy"/>
              </a:rPr>
              <a:t>1982</a:t>
            </a:r>
            <a:endParaRPr lang="en-US" sz="2100" noProof="1"/>
          </a:p>
        </p:txBody>
      </p:sp>
      <p:sp>
        <p:nvSpPr>
          <p:cNvPr id="19" name="label-4"/>
          <p:cNvSpPr txBox="1"/>
          <p:nvPr/>
        </p:nvSpPr>
        <p:spPr>
          <a:xfrm>
            <a:off x="8356600" y="2641600"/>
            <a:ext cx="17272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2B2118"/>
                </a:solidFill>
                <a:latin typeface="Quattrocento Sans"/>
                <a:ea typeface="Quattrocento Sans"/>
              </a:rPr>
              <a:t>Armoiries du village</a:t>
            </a:r>
            <a:endParaRPr lang="en-US" sz="1100" noProof="1"/>
          </a:p>
        </p:txBody>
      </p:sp>
      <p:sp>
        <p:nvSpPr>
          <p:cNvPr id="20" name="node-5"/>
          <p:cNvSpPr/>
          <p:nvPr/>
        </p:nvSpPr>
        <p:spPr>
          <a:xfrm>
            <a:off x="11188700" y="3416300"/>
            <a:ext cx="228600" cy="228600"/>
          </a:xfrm>
          <a:prstGeom prst="ellipse">
            <a:avLst/>
          </a:prstGeom>
          <a:solidFill>
            <a:srgbClr val="B08A3C"/>
          </a:solidFill>
          <a:ln w="38100">
            <a:solidFill>
              <a:srgbClr val="F5F0E6"/>
            </a:solidFill>
          </a:ln>
        </p:spPr>
      </p:sp>
      <p:sp>
        <p:nvSpPr>
          <p:cNvPr id="21" name="yr-5"/>
          <p:cNvSpPr txBox="1"/>
          <p:nvPr/>
        </p:nvSpPr>
        <p:spPr>
          <a:xfrm>
            <a:off x="10566400" y="3810000"/>
            <a:ext cx="1473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2100" noProof="1" b="1">
                <a:solidFill>
                  <a:srgbClr val="7A2E2E"/>
                </a:solidFill>
                <a:latin typeface="Sorts Mill Goudy"/>
                <a:ea typeface="Sorts Mill Goudy"/>
              </a:rPr>
              <a:t>1994</a:t>
            </a:r>
            <a:endParaRPr lang="en-US" sz="2100" noProof="1"/>
          </a:p>
        </p:txBody>
      </p:sp>
      <p:sp>
        <p:nvSpPr>
          <p:cNvPr id="22" name="label-5"/>
          <p:cNvSpPr txBox="1"/>
          <p:nvPr/>
        </p:nvSpPr>
        <p:spPr>
          <a:xfrm>
            <a:off x="10439400" y="4292600"/>
            <a:ext cx="17272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2B2118"/>
                </a:solidFill>
                <a:latin typeface="Quattrocento Sans"/>
                <a:ea typeface="Quattrocento Sans"/>
              </a:rPr>
              <a:t>1 851 habitants recensés</a:t>
            </a:r>
            <a:endParaRPr lang="en-US" sz="1100" noProof="1"/>
          </a:p>
        </p:txBody>
      </p:sp>
      <p:sp>
        <p:nvSpPr>
          <p:cNvPr id="23" name="timeline-note"/>
          <p:cNvSpPr txBox="1"/>
          <p:nvPr/>
        </p:nvSpPr>
        <p:spPr>
          <a:xfrm>
            <a:off x="660400" y="56388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</a:pPr>
            <a:r>
              <a:rPr lang="en-US" sz="1600" noProof="1" i="1">
                <a:solidFill>
                  <a:srgbClr val="6F6256"/>
                </a:solidFill>
                <a:latin typeface="Sorts Mill Goudy"/>
                <a:ea typeface="Sorts Mill Goudy"/>
              </a:rPr>
              <a:t>Chaque date est une étape d’une même histoire : des personnes, un lieu, une foi transmise.</a:t>
            </a:r>
            <a:endParaRPr lang="en-US" sz="1600" noProof="1"/>
          </a:p>
        </p:txBody>
      </p:sp>
      <p:sp>
        <p:nvSpPr>
          <p:cNvPr id="24" name="footer-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660400" y="6477000"/>
            <a:ext cx="108712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7A2E2E">
                <a:alpha val="33333"/>
              </a:srgbClr>
            </a:solidFill>
          </a:ln>
        </p:spPr>
      </p:sp>
      <p:sp>
        <p:nvSpPr>
          <p:cNvPr id="25" name="source"/>
          <p:cNvSpPr txBox="1"/>
          <p:nvPr/>
        </p:nvSpPr>
        <p:spPr>
          <a:xfrm>
            <a:off x="660400" y="6578600"/>
            <a:ext cx="914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6F6256"/>
                </a:solidFill>
                <a:latin typeface="Quattrocento Sans"/>
                <a:ea typeface="Quattrocento Sans"/>
              </a:rPr>
              <a:t>Source : </a:t>
            </a:r>
            <a:r>
              <a:rPr lang="en-US" sz="800" noProof="1" u="sng">
                <a:solidFill>
                  <a:srgbClr val="0563C1"/>
                </a:solidFill>
                <a:latin typeface="Quattrocento Sans"/>
                <a:ea typeface="Quattrocento Sans"/>
                <a:hlinkClick r:id="rId2"/>
              </a:rPr>
              <a:t>Diocèse d’Edmundston</a:t>
            </a:r>
            <a:r>
              <a:rPr lang="en-US" sz="800" noProof="1">
                <a:solidFill>
                  <a:srgbClr val="6F6256"/>
                </a:solidFill>
                <a:latin typeface="Quattrocento Sans"/>
                <a:ea typeface="Quattrocento Sans"/>
              </a:rPr>
              <a:t> — page historique, consultée le 7 août 2026 · Photos : Google, Archives R. H. S.-J. et contributions</a:t>
            </a:r>
            <a:endParaRPr lang="en-US" sz="800" noProof="1"/>
          </a:p>
        </p:txBody>
      </p:sp>
      <p:sp>
        <p:nvSpPr>
          <p:cNvPr id="26" name="page-num"/>
          <p:cNvSpPr txBox="1"/>
          <p:nvPr/>
        </p:nvSpPr>
        <p:spPr>
          <a:xfrm>
            <a:off x="10414000" y="6578600"/>
            <a:ext cx="11176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 b="1">
                <a:solidFill>
                  <a:srgbClr val="6F6256"/>
                </a:solidFill>
                <a:latin typeface="Quattrocento Sans"/>
                <a:ea typeface="Quattrocento Sans"/>
              </a:rPr>
              <a:t>11</a:t>
            </a:r>
            <a:endParaRPr lang="en-US" sz="9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blipFill>
          <a:blip r:embed="rId2"/>
          <a:srcRect l="1736" r="1736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"/>
          <p:cNvPicPr/>
          <p:nvPr/>
        </p:nvPicPr>
        <p:blipFill>
          <a:blip r:embed="rId3"/>
          <a:srcRect l="1736" r="173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shad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10D">
              <a:alpha val="65882"/>
            </a:srgbClr>
          </a:solidFill>
          <a:ln>
            <a:noFill/>
          </a:ln>
        </p:spPr>
      </p:sp>
      <p:sp>
        <p:nvSpPr>
          <p:cNvPr id="4" name="year"/>
          <p:cNvSpPr txBox="1"/>
          <p:nvPr/>
        </p:nvSpPr>
        <p:spPr>
          <a:xfrm>
            <a:off x="660400" y="660400"/>
            <a:ext cx="330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 b="1" spc="120" kern="0">
                <a:solidFill>
                  <a:srgbClr val="B08A3C"/>
                </a:solidFill>
                <a:latin typeface="Quattrocento Sans"/>
                <a:ea typeface="Quattrocento Sans"/>
              </a:rPr>
              <a:t>Aujourd’hui</a:t>
            </a:r>
            <a:endParaRPr lang="en-US" sz="1800" noProof="1"/>
          </a:p>
        </p:txBody>
      </p:sp>
      <p:sp>
        <p:nvSpPr>
          <p:cNvPr id="5" name="today-rul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660400" y="1371600"/>
            <a:ext cx="16764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38100">
            <a:solidFill>
              <a:srgbClr val="B08A3C"/>
            </a:solidFill>
          </a:ln>
        </p:spPr>
      </p:sp>
      <p:sp>
        <p:nvSpPr>
          <p:cNvPr id="6" name="title"/>
          <p:cNvSpPr txBox="1"/>
          <p:nvPr/>
        </p:nvSpPr>
        <p:spPr>
          <a:xfrm>
            <a:off x="660400" y="1727200"/>
            <a:ext cx="77470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05000"/>
              </a:lnSpc>
            </a:pPr>
            <a:r>
              <a:rPr lang="en-US" sz="4200" noProof="1" b="1">
                <a:solidFill>
                  <a:srgbClr val="F5F0E6"/>
                </a:solidFill>
                <a:latin typeface="Sorts Mill Goudy"/>
                <a:ea typeface="Sorts Mill Goudy"/>
              </a:rPr>
              <a:t>Des racines qui portent du fruit</a:t>
            </a:r>
            <a:endParaRPr lang="en-US" sz="4200" noProof="1"/>
          </a:p>
        </p:txBody>
      </p:sp>
      <p:sp>
        <p:nvSpPr>
          <p:cNvPr id="7" name="body"/>
          <p:cNvSpPr txBox="1"/>
          <p:nvPr/>
        </p:nvSpPr>
        <p:spPr>
          <a:xfrm>
            <a:off x="660400" y="3200400"/>
            <a:ext cx="7112000" cy="160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2000"/>
              </a:lnSpc>
            </a:pPr>
            <a:r>
              <a:rPr lang="en-US" sz="2000" noProof="1">
                <a:solidFill>
                  <a:srgbClr val="F5F0E6"/>
                </a:solidFill>
                <a:latin typeface="Quattrocento Sans"/>
                <a:ea typeface="Quattrocento Sans"/>
              </a:rPr>
              <a:t>Agricole, francophone, musicale et accueillante, Saint-André conserve la fierté de ses ancêtres tout en continuant à faire grandir sa vie paroissiale.</a:t>
            </a:r>
            <a:endParaRPr lang="en-US" sz="2000" noProof="1"/>
          </a:p>
        </p:txBody>
      </p:sp>
      <p:sp>
        <p:nvSpPr>
          <p:cNvPr id="8" name="footer-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660400" y="6477000"/>
            <a:ext cx="108712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F5F0E6">
                <a:alpha val="41961"/>
              </a:srgbClr>
            </a:solidFill>
          </a:ln>
        </p:spPr>
      </p:sp>
      <p:sp>
        <p:nvSpPr>
          <p:cNvPr id="9" name="source"/>
          <p:cNvSpPr txBox="1"/>
          <p:nvPr/>
        </p:nvSpPr>
        <p:spPr>
          <a:xfrm>
            <a:off x="660400" y="6578600"/>
            <a:ext cx="914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F5F0E6">
                    <a:alpha val="80000"/>
                  </a:srgbClr>
                </a:solidFill>
                <a:latin typeface="Quattrocento Sans"/>
                <a:ea typeface="Quattrocento Sans"/>
              </a:rPr>
              <a:t>Source : </a:t>
            </a:r>
            <a:r>
              <a:rPr lang="en-US" sz="800" noProof="1" u="sng">
                <a:solidFill>
                  <a:srgbClr val="0563C1"/>
                </a:solidFill>
                <a:latin typeface="Quattrocento Sans"/>
                <a:ea typeface="Quattrocento Sans"/>
                <a:hlinkClick r:id="rId4"/>
              </a:rPr>
              <a:t>Diocèse d’Edmundston</a:t>
            </a:r>
            <a:r>
              <a:rPr lang="en-US" sz="800" noProof="1">
                <a:solidFill>
                  <a:srgbClr val="F5F0E6">
                    <a:alpha val="80000"/>
                  </a:srgbClr>
                </a:solidFill>
                <a:latin typeface="Quattrocento Sans"/>
                <a:ea typeface="Quattrocento Sans"/>
              </a:rPr>
              <a:t> — page historique, consultée le 7 août 2026 · Photos : Google, Archives R. H. S.-J. et contributions</a:t>
            </a:r>
            <a:endParaRPr lang="en-US" sz="800" noProof="1"/>
          </a:p>
        </p:txBody>
      </p:sp>
      <p:sp>
        <p:nvSpPr>
          <p:cNvPr id="10" name="page-num"/>
          <p:cNvSpPr txBox="1"/>
          <p:nvPr/>
        </p:nvSpPr>
        <p:spPr>
          <a:xfrm>
            <a:off x="10414000" y="6578600"/>
            <a:ext cx="11176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 b="1">
                <a:solidFill>
                  <a:srgbClr val="F5F0E6">
                    <a:alpha val="80000"/>
                  </a:srgbClr>
                </a:solidFill>
                <a:latin typeface="Quattrocento Sans"/>
                <a:ea typeface="Quattrocento Sans"/>
              </a:rPr>
              <a:t>12</a:t>
            </a:r>
            <a:endParaRPr lang="en-US" sz="9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blipFill>
          <a:blip r:embed="rId2"/>
          <a:srcRect t="15909" b="15909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"/>
          <p:cNvPicPr/>
          <p:nvPr/>
        </p:nvPicPr>
        <p:blipFill>
          <a:blip r:embed="rId3"/>
          <a:srcRect t="15909" b="1590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shad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10D">
              <a:alpha val="80000"/>
            </a:srgbClr>
          </a:solidFill>
          <a:ln>
            <a:noFill/>
          </a:ln>
        </p:spPr>
      </p:sp>
      <p:sp>
        <p:nvSpPr>
          <p:cNvPr id="4" name="year"/>
          <p:cNvSpPr txBox="1"/>
          <p:nvPr/>
        </p:nvSpPr>
        <p:spPr>
          <a:xfrm>
            <a:off x="660400" y="609600"/>
            <a:ext cx="2286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 b="1" spc="120" kern="0">
                <a:solidFill>
                  <a:srgbClr val="B08A3C"/>
                </a:solidFill>
                <a:latin typeface="Quattrocento Sans"/>
                <a:ea typeface="Quattrocento Sans"/>
              </a:rPr>
              <a:t>Merci</a:t>
            </a:r>
            <a:endParaRPr lang="en-US" sz="1800" noProof="1"/>
          </a:p>
        </p:txBody>
      </p:sp>
      <p:sp>
        <p:nvSpPr>
          <p:cNvPr id="5" name="title"/>
          <p:cNvSpPr txBox="1"/>
          <p:nvPr/>
        </p:nvSpPr>
        <p:spPr>
          <a:xfrm>
            <a:off x="660400" y="1498600"/>
            <a:ext cx="9652000" cy="147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08000"/>
              </a:lnSpc>
            </a:pPr>
            <a:r>
              <a:rPr lang="en-US" sz="4400" noProof="1" b="1">
                <a:solidFill>
                  <a:srgbClr val="F5F0E6"/>
                </a:solidFill>
                <a:latin typeface="Sorts Mill Goudy"/>
                <a:ea typeface="Sorts Mill Goudy"/>
              </a:rPr>
              <a:t>La mémoire fleurit, la mission porte fruit.</a:t>
            </a:r>
            <a:endParaRPr lang="en-US" sz="4400" noProof="1"/>
          </a:p>
        </p:txBody>
      </p:sp>
      <p:sp>
        <p:nvSpPr>
          <p:cNvPr id="6" name="closing-rul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660400" y="3276600"/>
            <a:ext cx="20828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50800">
            <a:solidFill>
              <a:srgbClr val="B08A3C"/>
            </a:solidFill>
          </a:ln>
        </p:spPr>
      </p:sp>
      <p:sp>
        <p:nvSpPr>
          <p:cNvPr id="7" name="body"/>
          <p:cNvSpPr txBox="1"/>
          <p:nvPr/>
        </p:nvSpPr>
        <p:spPr>
          <a:xfrm>
            <a:off x="660400" y="3708400"/>
            <a:ext cx="88900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2200" noProof="1" i="1">
                <a:solidFill>
                  <a:srgbClr val="F5F0E6"/>
                </a:solidFill>
                <a:latin typeface="Sorts Mill Goudy"/>
                <a:ea typeface="Sorts Mill Goudy"/>
              </a:rPr>
              <a:t>Que les générations qui ont défriché, prié et chanté inspirent encore celles qui habitent cette terre.</a:t>
            </a:r>
            <a:endParaRPr lang="en-US" sz="2200" noProof="1"/>
          </a:p>
        </p:txBody>
      </p:sp>
      <p:sp>
        <p:nvSpPr>
          <p:cNvPr id="8" name="signature"/>
          <p:cNvSpPr txBox="1"/>
          <p:nvPr/>
        </p:nvSpPr>
        <p:spPr>
          <a:xfrm>
            <a:off x="660400" y="5486400"/>
            <a:ext cx="787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120" kern="0">
                <a:solidFill>
                  <a:srgbClr val="F5F0E6"/>
                </a:solidFill>
                <a:latin typeface="Quattrocento Sans"/>
                <a:ea typeface="Quattrocento Sans"/>
              </a:rPr>
              <a:t>Unité pastorale Notre-Dame-du-Sacré-Cœur — Diocèse d’Edmundston</a:t>
            </a:r>
            <a:endParaRPr lang="en-US" sz="1100" noProof="1"/>
          </a:p>
        </p:txBody>
      </p:sp>
      <p:sp>
        <p:nvSpPr>
          <p:cNvPr id="9" name="footer-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660400" y="6477000"/>
            <a:ext cx="108712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F5F0E6">
                <a:alpha val="41961"/>
              </a:srgbClr>
            </a:solidFill>
          </a:ln>
        </p:spPr>
      </p:sp>
      <p:sp>
        <p:nvSpPr>
          <p:cNvPr id="10" name="source"/>
          <p:cNvSpPr txBox="1"/>
          <p:nvPr/>
        </p:nvSpPr>
        <p:spPr>
          <a:xfrm>
            <a:off x="660400" y="6578600"/>
            <a:ext cx="914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F5F0E6">
                    <a:alpha val="80000"/>
                  </a:srgbClr>
                </a:solidFill>
                <a:latin typeface="Quattrocento Sans"/>
                <a:ea typeface="Quattrocento Sans"/>
              </a:rPr>
              <a:t>Source : </a:t>
            </a:r>
            <a:r>
              <a:rPr lang="en-US" sz="800" noProof="1" u="sng">
                <a:solidFill>
                  <a:srgbClr val="0563C1"/>
                </a:solidFill>
                <a:latin typeface="Quattrocento Sans"/>
                <a:ea typeface="Quattrocento Sans"/>
                <a:hlinkClick r:id="rId4"/>
              </a:rPr>
              <a:t>Diocèse d’Edmundston</a:t>
            </a:r>
            <a:r>
              <a:rPr lang="en-US" sz="800" noProof="1">
                <a:solidFill>
                  <a:srgbClr val="F5F0E6">
                    <a:alpha val="80000"/>
                  </a:srgbClr>
                </a:solidFill>
                <a:latin typeface="Quattrocento Sans"/>
                <a:ea typeface="Quattrocento Sans"/>
              </a:rPr>
              <a:t> — page historique, consultée le 7 août 2026 · Photos : Google, Archives R. H. S.-J. et contributions</a:t>
            </a:r>
            <a:endParaRPr lang="en-US" sz="800" noProof="1"/>
          </a:p>
        </p:txBody>
      </p:sp>
      <p:sp>
        <p:nvSpPr>
          <p:cNvPr id="11" name="page-num"/>
          <p:cNvSpPr txBox="1"/>
          <p:nvPr/>
        </p:nvSpPr>
        <p:spPr>
          <a:xfrm>
            <a:off x="10414000" y="6578600"/>
            <a:ext cx="11176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 b="1">
                <a:solidFill>
                  <a:srgbClr val="F5F0E6">
                    <a:alpha val="80000"/>
                  </a:srgbClr>
                </a:solidFill>
                <a:latin typeface="Quattrocento Sans"/>
                <a:ea typeface="Quattrocento Sans"/>
              </a:rPr>
              <a:t>13</a:t>
            </a:r>
            <a:endParaRPr lang="en-US" sz="9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17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660400" y="5080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 spc="120" kern="0">
                <a:solidFill>
                  <a:srgbClr val="B08A3C"/>
                </a:solidFill>
                <a:latin typeface="Quattrocento Sans"/>
                <a:ea typeface="Quattrocento Sans"/>
              </a:rPr>
              <a:t>Le chant de notre patron — 30 novembre</a:t>
            </a:r>
            <a:endParaRPr lang="en-US" sz="1500" noProof="1"/>
          </a:p>
        </p:txBody>
      </p:sp>
      <p:sp>
        <p:nvSpPr>
          <p:cNvPr id="3" name="title"/>
          <p:cNvSpPr txBox="1"/>
          <p:nvPr/>
        </p:nvSpPr>
        <p:spPr>
          <a:xfrm>
            <a:off x="660400" y="914400"/>
            <a:ext cx="8890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600" noProof="1" b="1">
                <a:solidFill>
                  <a:srgbClr val="F5F0E6"/>
                </a:solidFill>
                <a:latin typeface="Sorts Mill Goudy"/>
                <a:ea typeface="Sorts Mill Goudy"/>
              </a:rPr>
              <a:t>« L’Apôtre André »</a:t>
            </a:r>
            <a:endParaRPr lang="en-US" sz="3600" noProof="1"/>
          </a:p>
        </p:txBody>
      </p:sp>
      <p:sp>
        <p:nvSpPr>
          <p:cNvPr id="4" name="rul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660400" y="1727200"/>
            <a:ext cx="20828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50800">
            <a:solidFill>
              <a:srgbClr val="B08A3C"/>
            </a:solidFill>
          </a:ln>
        </p:spPr>
      </p:sp>
      <p:sp>
        <p:nvSpPr>
          <p:cNvPr id="5" name="refrain-label"/>
          <p:cNvSpPr txBox="1"/>
          <p:nvPr/>
        </p:nvSpPr>
        <p:spPr>
          <a:xfrm>
            <a:off x="660400" y="20066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120" kern="0">
                <a:solidFill>
                  <a:srgbClr val="B08A3C"/>
                </a:solidFill>
                <a:latin typeface="Quattrocento Sans"/>
                <a:ea typeface="Quattrocento Sans"/>
              </a:rPr>
              <a:t>Refrain</a:t>
            </a:r>
            <a:endParaRPr lang="en-US" sz="1100" noProof="1"/>
          </a:p>
        </p:txBody>
      </p:sp>
      <p:sp>
        <p:nvSpPr>
          <p:cNvPr id="6" name="refrain"/>
          <p:cNvSpPr txBox="1"/>
          <p:nvPr/>
        </p:nvSpPr>
        <p:spPr>
          <a:xfrm>
            <a:off x="660400" y="2260600"/>
            <a:ext cx="5334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700" noProof="1" i="1">
                <a:solidFill>
                  <a:srgbClr val="F5F0E6"/>
                </a:solidFill>
                <a:latin typeface="Sorts Mill Goudy"/>
                <a:ea typeface="Sorts Mill Goudy"/>
              </a:rPr>
              <a:t>Toi qui sais reconnaître le Maître,
tu lui remets vie pour Vie !</a:t>
            </a:r>
            <a:endParaRPr lang="en-US" sz="1700" noProof="1"/>
          </a:p>
        </p:txBody>
      </p:sp>
      <p:sp>
        <p:nvSpPr>
          <p:cNvPr id="7" name="verse1"/>
          <p:cNvSpPr txBox="1"/>
          <p:nvPr/>
        </p:nvSpPr>
        <p:spPr>
          <a:xfrm>
            <a:off x="660400" y="3175000"/>
            <a:ext cx="5334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400" noProof="1">
                <a:solidFill>
                  <a:srgbClr val="F5F0E6"/>
                </a:solidFill>
                <a:latin typeface="Quattrocento Sans"/>
                <a:ea typeface="Quattrocento Sans"/>
              </a:rPr>
              <a:t>1. L’apôtre André a demandé :
« Jésus, où demeures-tu ? »
et le Seigneur a répondu :
« Venez et voyez » !</a:t>
            </a:r>
            <a:endParaRPr lang="en-US" sz="1400" noProof="1"/>
          </a:p>
        </p:txBody>
      </p:sp>
      <p:sp>
        <p:nvSpPr>
          <p:cNvPr id="8" name="verse2"/>
          <p:cNvSpPr txBox="1"/>
          <p:nvPr/>
        </p:nvSpPr>
        <p:spPr>
          <a:xfrm>
            <a:off x="660400" y="4597400"/>
            <a:ext cx="5334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400" noProof="1">
                <a:solidFill>
                  <a:srgbClr val="F5F0E6"/>
                </a:solidFill>
                <a:latin typeface="Quattrocento Sans"/>
                <a:ea typeface="Quattrocento Sans"/>
              </a:rPr>
              <a:t>2. L’apôtre André ayant trouvé
Jésus le Messie, accourt
vers Simon-Pierre au point du jour
et dit : « Viens à lui ! »</a:t>
            </a:r>
            <a:endParaRPr lang="en-US" sz="1400" noProof="1"/>
          </a:p>
        </p:txBody>
      </p:sp>
      <p:sp>
        <p:nvSpPr>
          <p:cNvPr id="9" name="verse3"/>
          <p:cNvSpPr txBox="1"/>
          <p:nvPr/>
        </p:nvSpPr>
        <p:spPr>
          <a:xfrm>
            <a:off x="6451600" y="3175000"/>
            <a:ext cx="5080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400" noProof="1">
                <a:solidFill>
                  <a:srgbClr val="F5F0E6"/>
                </a:solidFill>
                <a:latin typeface="Quattrocento Sans"/>
                <a:ea typeface="Quattrocento Sans"/>
              </a:rPr>
              <a:t>3. L’apôtre André a proclamé
Jésus comme seul Sauveur
auprès de peuples sans Pasteur
qu’il veut tous à Dieu !</a:t>
            </a:r>
            <a:endParaRPr lang="en-US" sz="1400" noProof="1"/>
          </a:p>
        </p:txBody>
      </p:sp>
      <p:sp>
        <p:nvSpPr>
          <p:cNvPr id="10" name="verse4"/>
          <p:cNvSpPr txBox="1"/>
          <p:nvPr/>
        </p:nvSpPr>
        <p:spPr>
          <a:xfrm>
            <a:off x="6451600" y="4597400"/>
            <a:ext cx="5080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400" noProof="1">
                <a:solidFill>
                  <a:srgbClr val="F5F0E6"/>
                </a:solidFill>
                <a:latin typeface="Quattrocento Sans"/>
                <a:ea typeface="Quattrocento Sans"/>
              </a:rPr>
              <a:t>4. L’apôtre André a glorifié
Jésus quand il a reçu
mort et martyre, suspendu
au bois d’une croix !</a:t>
            </a:r>
            <a:endParaRPr lang="en-US" sz="1400" noProof="1"/>
          </a:p>
        </p:txBody>
      </p:sp>
      <p:sp>
        <p:nvSpPr>
          <p:cNvPr id="11" name="icon"/>
          <p:cNvSpPr/>
          <p:nvPr>
            <p:extLst>
              <p:ext uri="{F5677B7D-0D2A-4D9B-9A5C-6D8D7D0E5A5D}">
                <pptd:icon encoding="base64url">eyJpY29uTmFtZSI6ImZhczptdXNpYyJ9</pptd:icon>
              </p:ext>
            </p:extLst>
          </p:nvPr>
        </p:nvSpPr>
        <p:spPr>
          <a:xfrm>
            <a:off x="6451600" y="2108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68" y="7"/>
                </a:moveTo>
                <a:cubicBezTo>
                  <a:pt x="476" y="13"/>
                  <a:pt x="480" y="22"/>
                  <a:pt x="480" y="32"/>
                </a:cubicBezTo>
                <a:lnTo>
                  <a:pt x="480" y="336"/>
                </a:lnTo>
                <a:cubicBezTo>
                  <a:pt x="480" y="380"/>
                  <a:pt x="437" y="416"/>
                  <a:pt x="384" y="416"/>
                </a:cubicBezTo>
                <a:cubicBezTo>
                  <a:pt x="331" y="416"/>
                  <a:pt x="288" y="380"/>
                  <a:pt x="288" y="336"/>
                </a:cubicBezTo>
                <a:cubicBezTo>
                  <a:pt x="288" y="292"/>
                  <a:pt x="331" y="256"/>
                  <a:pt x="384" y="256"/>
                </a:cubicBezTo>
                <a:cubicBezTo>
                  <a:pt x="395" y="256"/>
                  <a:pt x="406" y="258"/>
                  <a:pt x="416" y="261"/>
                </a:cubicBezTo>
                <a:lnTo>
                  <a:pt x="416" y="144"/>
                </a:lnTo>
                <a:lnTo>
                  <a:pt x="192" y="194"/>
                </a:lnTo>
                <a:lnTo>
                  <a:pt x="192" y="400"/>
                </a:lnTo>
                <a:cubicBezTo>
                  <a:pt x="192" y="444"/>
                  <a:pt x="149" y="480"/>
                  <a:pt x="96" y="480"/>
                </a:cubicBezTo>
                <a:cubicBezTo>
                  <a:pt x="43" y="480"/>
                  <a:pt x="0" y="444"/>
                  <a:pt x="0" y="400"/>
                </a:cubicBezTo>
                <a:cubicBezTo>
                  <a:pt x="0" y="356"/>
                  <a:pt x="43" y="320"/>
                  <a:pt x="96" y="320"/>
                </a:cubicBezTo>
                <a:cubicBezTo>
                  <a:pt x="107" y="320"/>
                  <a:pt x="118" y="322"/>
                  <a:pt x="128" y="325"/>
                </a:cubicBezTo>
                <a:lnTo>
                  <a:pt x="128" y="96"/>
                </a:lnTo>
                <a:cubicBezTo>
                  <a:pt x="128" y="81"/>
                  <a:pt x="138" y="68"/>
                  <a:pt x="153" y="65"/>
                </a:cubicBezTo>
                <a:lnTo>
                  <a:pt x="441" y="1"/>
                </a:lnTo>
                <a:cubicBezTo>
                  <a:pt x="451" y="-1"/>
                  <a:pt x="461" y="1"/>
                  <a:pt x="468" y="7"/>
                </a:cubicBezTo>
                <a:close/>
              </a:path>
            </a:pathLst>
          </a:custGeom>
          <a:solidFill>
            <a:srgbClr val="B08A3C"/>
          </a:solidFill>
          <a:ln>
            <a:noFill/>
          </a:ln>
        </p:spPr>
      </p:sp>
      <p:sp>
        <p:nvSpPr>
          <p:cNvPr id="12" name="credits"/>
          <p:cNvSpPr txBox="1"/>
          <p:nvPr/>
        </p:nvSpPr>
        <p:spPr>
          <a:xfrm>
            <a:off x="7061200" y="2032000"/>
            <a:ext cx="44704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100" noProof="1">
                <a:solidFill>
                  <a:srgbClr val="F5F0E6">
                    <a:alpha val="80000"/>
                  </a:srgbClr>
                </a:solidFill>
                <a:latin typeface="Quattrocento Sans"/>
                <a:ea typeface="Quattrocento Sans"/>
              </a:rPr>
              <a:t>Paroles : J.-F. Frie
Musique : J.-P. Lecot
Éditeur : Lethielleux (DDB)</a:t>
            </a:r>
            <a:endParaRPr lang="en-US" sz="1100" noProof="1"/>
          </a:p>
        </p:txBody>
      </p:sp>
      <p:sp>
        <p:nvSpPr>
          <p:cNvPr id="13" name="footer-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660400" y="6223000"/>
            <a:ext cx="108712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F5F0E6">
                <a:alpha val="41961"/>
              </a:srgbClr>
            </a:solidFill>
          </a:ln>
        </p:spPr>
      </p:sp>
      <p:sp>
        <p:nvSpPr>
          <p:cNvPr id="14" name="source"/>
          <p:cNvSpPr txBox="1"/>
          <p:nvPr/>
        </p:nvSpPr>
        <p:spPr>
          <a:xfrm>
            <a:off x="660400" y="6350000"/>
            <a:ext cx="9144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>
                <a:solidFill>
                  <a:srgbClr val="F5F0E6">
                    <a:alpha val="80000"/>
                  </a:srgbClr>
                </a:solidFill>
                <a:latin typeface="Quattrocento Sans"/>
                <a:ea typeface="Quattrocento Sans"/>
              </a:rPr>
              <a:t>Source : </a:t>
            </a:r>
            <a:r>
              <a:rPr lang="en-US" sz="900" noProof="1" u="sng">
                <a:solidFill>
                  <a:srgbClr val="0563C1"/>
                </a:solidFill>
                <a:latin typeface="Quattrocento Sans"/>
                <a:ea typeface="Quattrocento Sans"/>
                <a:hlinkClick r:id="rId2"/>
              </a:rPr>
              <a:t>SECLI — Fiches de chants</a:t>
            </a:r>
            <a:r>
              <a:rPr lang="en-US" sz="900" noProof="1">
                <a:solidFill>
                  <a:srgbClr val="F5F0E6">
                    <a:alpha val="80000"/>
                  </a:srgbClr>
                </a:solidFill>
                <a:latin typeface="Quattrocento Sans"/>
                <a:ea typeface="Quattrocento Sans"/>
              </a:rPr>
              <a:t>, cote W21-32 · Toute diffusion doit mentionner la cote, les auteurs et l’éditeur.</a:t>
            </a:r>
            <a:endParaRPr lang="en-US" sz="900" noProof="1"/>
          </a:p>
        </p:txBody>
      </p:sp>
      <p:sp>
        <p:nvSpPr>
          <p:cNvPr id="15" name="page-num"/>
          <p:cNvSpPr txBox="1"/>
          <p:nvPr/>
        </p:nvSpPr>
        <p:spPr>
          <a:xfrm>
            <a:off x="10414000" y="6400800"/>
            <a:ext cx="11176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 b="1">
                <a:solidFill>
                  <a:srgbClr val="F5F0E6">
                    <a:alpha val="80000"/>
                  </a:srgbClr>
                </a:solidFill>
                <a:latin typeface="Quattrocento Sans"/>
                <a:ea typeface="Quattrocento Sans"/>
              </a:rPr>
              <a:t>14</a:t>
            </a:r>
            <a:endParaRPr lang="en-US" sz="9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14</Slides>
</Properties>
</file>

<file path=docProps/core.xml><?xml version="1.0" encoding="utf-8"?>
<cp:coreProperties xmlns:dc="http://purl.org/dc/elements/1.1/" xmlns:cp="http://schemas.openxmlformats.org/package/2006/metadata/core-properties">
  <dc:title>Paroisse Saint-André — Histoire vivante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